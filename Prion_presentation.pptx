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6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7D0"/>
    <a:srgbClr val="BEC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7"/>
  </p:normalViewPr>
  <p:slideViewPr>
    <p:cSldViewPr snapToGrid="0">
      <p:cViewPr>
        <p:scale>
          <a:sx n="94" d="100"/>
          <a:sy n="94" d="100"/>
        </p:scale>
        <p:origin x="10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E14E-00DA-884F-FEFB-B1D8AE98C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07789-7436-2FAC-E05A-7B9A0EDCC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C203-752A-3237-BDDD-A04B27A5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AD3B8-FB7D-5398-1851-273F8B94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38711-799C-E8DF-D871-38B319C9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73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E2BC-B9D2-661A-42F0-4CB3AD6A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1DF3-5E84-60AA-7BA8-0F28BBC5F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E47D2-CF7F-C57F-1A87-04B0D715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0583D-306F-7D58-6889-918606760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47A23-3643-AFC5-F4D9-F77B1432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860A-3082-7F8F-F474-4C86CB379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AFB3C-93B5-B55D-C761-641B4D164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27E8B-5EC7-3D0B-529C-E1C9C06C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C7FBC-7C5A-509C-D642-01B5984B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F4E0E-F9F3-F91B-B736-DF0D9CF3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6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8E59-1499-D8C2-B7BA-679EB1ED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1E85-353D-52C8-5F6F-5FD6210A7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6F146-795D-C645-75A8-9E996BB72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D4462-D1F4-E008-3F86-006E0C17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2F944-C01B-E6CD-E200-E4918B1C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FB28C-4542-6369-8E4D-870C389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6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835B-0703-6422-80AF-0303DA84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E200C-1097-E392-D1DE-C1A1AC61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0EF72-E64A-C715-449F-150DD4325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9189C-B31B-AEFF-2397-B75D75ABD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CE23-5914-0A76-4947-0E157320B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5D485-25B2-EA3F-9B66-BC16B9B1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B4A12-9B8A-46E9-4720-B4D7E39B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D2040-F217-1A46-D398-9D677AFD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2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B7C3-5BD8-FB1B-24C4-B7FC52BE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F88B0-C831-75A8-AEDF-5C055A7E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15F48-DF76-B6DB-6C18-08F97DEB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16168-68F5-3404-7ECE-660F15D3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66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CA26E-51BA-6513-2B9D-60E8F0B8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2DB2B-4ABD-5C04-750D-D1D54755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9E122-F4A9-2893-AFEF-C1B60361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3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B3CA1-5582-03F6-6818-7C81CFB4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BEBDA-5CA1-3D36-5A55-D2FBCFF3A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9CB6-BE77-F171-29F6-730506FB6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78637-678A-FEEC-F9E9-2C354644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EFDE5-5D19-D7AE-9212-40F8DFFB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E7494-108F-2BBF-0A62-4F635568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7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B8F9-5391-E705-E120-B7441152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D3B50-EF0A-9964-6EF7-696EFBBA5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D7F02-B128-78AD-1D78-63D08CC51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52235-F8CA-8859-5888-4D28F4DF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B2035-0BA5-669F-5C69-761F178A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CC0D7-863E-8B18-0F79-D5E435D8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8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FF1D-BFC9-346A-8C87-4CDB7E19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6C358-CD46-9072-2669-F542DCF36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6327-940B-A38D-F4B5-612E8F11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609AD-8BE7-FE76-E1A9-A9EC0511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EE6F9-8B70-6CAF-F524-2DAFA1E2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7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D4941-4BDF-253F-4A70-6CBED4945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52538-8814-BED1-2F76-693AAC14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5F64-A1B0-F12B-E3AF-2357B793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65A74-3096-70F3-0A32-3B539A0F2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606D8-883A-C57E-5E41-C5B7DDE8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6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98066-A3E2-A63E-A670-6D567226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02A6A-29E7-471E-101F-44EA77307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0AE9-1641-429C-CE39-3441A5358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9B350-63D7-574E-B255-818278773720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00BB9-8F77-8FAC-241B-8A7BDF1B8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64BEF-8F02-4CDF-3BF3-875279A19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C498E-B6F1-B840-B82E-5C33033F9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86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95EE-14FF-A75D-5A52-2EC98D604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Prion Deposition </a:t>
            </a:r>
            <a:br>
              <a:rPr lang="en-US" dirty="0"/>
            </a:br>
            <a:r>
              <a:rPr lang="en-US" dirty="0"/>
              <a:t>Analysis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846C8-B85D-1C94-5DB4-DB93C926E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182" y="3776868"/>
            <a:ext cx="9965635" cy="149418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Automated quantification of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PrPsc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deposition in histological brain images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Team Hacking into the Brainframe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qCMB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Hackaton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– June 2026</a:t>
            </a:r>
          </a:p>
        </p:txBody>
      </p:sp>
    </p:spTree>
    <p:extLst>
      <p:ext uri="{BB962C8B-B14F-4D97-AF65-F5344CB8AC3E}">
        <p14:creationId xmlns:p14="http://schemas.microsoft.com/office/powerpoint/2010/main" val="128593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239D-A925-7CC0-BE2E-C1D02091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9D94-9667-7990-B17B-D39ECF615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8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371E-1FAB-1D2E-B526-B460E6AE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761F-F58D-B4C9-FE92-81A15235A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4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00B04-BDA4-26DA-FC0B-992FE69F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C759-F6DA-D20D-04F7-0F9B3C89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1239A-E1A9-D6F6-7F2A-A10FE8370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3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5CD4-37F5-EFC9-98A8-23D9CE44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3517-3CFF-0082-86FF-EE0701F4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pipeline approach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1E7F17-F493-35DA-11DF-19EC58977979}"/>
              </a:ext>
            </a:extLst>
          </p:cNvPr>
          <p:cNvSpPr/>
          <p:nvPr/>
        </p:nvSpPr>
        <p:spPr>
          <a:xfrm>
            <a:off x="1848673" y="2288225"/>
            <a:ext cx="2146854" cy="7200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Subset raw images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(3-5 / group)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A02504-32FE-9DF7-C952-E60BF460B1E2}"/>
              </a:ext>
            </a:extLst>
          </p:cNvPr>
          <p:cNvSpPr/>
          <p:nvPr/>
        </p:nvSpPr>
        <p:spPr>
          <a:xfrm>
            <a:off x="1848673" y="3220277"/>
            <a:ext cx="2146852" cy="7200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Manual scoring in </a:t>
            </a:r>
            <a:r>
              <a:rPr lang="en-US" dirty="0" err="1">
                <a:solidFill>
                  <a:sysClr val="windowText" lastClr="000000"/>
                </a:solidFill>
              </a:rPr>
              <a:t>Ilastik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7AF7CC-B968-DBE7-59D6-538D3E65004E}"/>
              </a:ext>
            </a:extLst>
          </p:cNvPr>
          <p:cNvSpPr/>
          <p:nvPr/>
        </p:nvSpPr>
        <p:spPr>
          <a:xfrm>
            <a:off x="3238495" y="4089486"/>
            <a:ext cx="1861932" cy="7200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Model for segmentation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7F7CFD-CBAB-899D-D1C6-147671A5B932}"/>
              </a:ext>
            </a:extLst>
          </p:cNvPr>
          <p:cNvSpPr/>
          <p:nvPr/>
        </p:nvSpPr>
        <p:spPr>
          <a:xfrm>
            <a:off x="3238495" y="4869826"/>
            <a:ext cx="1861932" cy="7200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 processing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F8AA7A1-84F4-7F78-8A7E-883E5F277C9B}"/>
              </a:ext>
            </a:extLst>
          </p:cNvPr>
          <p:cNvSpPr/>
          <p:nvPr/>
        </p:nvSpPr>
        <p:spPr>
          <a:xfrm>
            <a:off x="4343396" y="2288226"/>
            <a:ext cx="2146853" cy="7200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Remaining raw images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8AE4575-903F-A374-D4D7-2C5DCCAE3B04}"/>
              </a:ext>
            </a:extLst>
          </p:cNvPr>
          <p:cNvSpPr/>
          <p:nvPr/>
        </p:nvSpPr>
        <p:spPr>
          <a:xfrm>
            <a:off x="1848673" y="5773946"/>
            <a:ext cx="4641576" cy="4954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Segmented images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7ABCD6-390B-78C1-A259-19349AC9B420}"/>
              </a:ext>
            </a:extLst>
          </p:cNvPr>
          <p:cNvSpPr/>
          <p:nvPr/>
        </p:nvSpPr>
        <p:spPr>
          <a:xfrm>
            <a:off x="8196474" y="2548077"/>
            <a:ext cx="2146853" cy="72006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Manual screen of segmented images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911EA7-1771-1E7A-ADDE-A29D20C83311}"/>
              </a:ext>
            </a:extLst>
          </p:cNvPr>
          <p:cNvSpPr/>
          <p:nvPr/>
        </p:nvSpPr>
        <p:spPr>
          <a:xfrm>
            <a:off x="8196473" y="3594076"/>
            <a:ext cx="2146853" cy="8743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Read into R processing pipeline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01DD30-FC7D-1DE6-ABD8-B16F33832151}"/>
              </a:ext>
            </a:extLst>
          </p:cNvPr>
          <p:cNvSpPr/>
          <p:nvPr/>
        </p:nvSpPr>
        <p:spPr>
          <a:xfrm>
            <a:off x="1848673" y="1690688"/>
            <a:ext cx="4641577" cy="42401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Raw images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2C2389-E4DE-F608-6018-1B533C94A3AF}"/>
              </a:ext>
            </a:extLst>
          </p:cNvPr>
          <p:cNvSpPr/>
          <p:nvPr/>
        </p:nvSpPr>
        <p:spPr>
          <a:xfrm>
            <a:off x="8196473" y="4556180"/>
            <a:ext cx="2146853" cy="8743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Downstream plotting and statistics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CEC24B-98F8-3B8E-D9B2-BB68035DBA9D}"/>
              </a:ext>
            </a:extLst>
          </p:cNvPr>
          <p:cNvCxnSpPr>
            <a:cxnSpLocks/>
          </p:cNvCxnSpPr>
          <p:nvPr/>
        </p:nvCxnSpPr>
        <p:spPr>
          <a:xfrm>
            <a:off x="2964111" y="2956337"/>
            <a:ext cx="2" cy="4018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5A65B6-7A4F-0F2F-9C22-C88250E227A2}"/>
              </a:ext>
            </a:extLst>
          </p:cNvPr>
          <p:cNvCxnSpPr>
            <a:cxnSpLocks/>
          </p:cNvCxnSpPr>
          <p:nvPr/>
        </p:nvCxnSpPr>
        <p:spPr>
          <a:xfrm>
            <a:off x="4107753" y="3983791"/>
            <a:ext cx="0" cy="2501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C8BA38-348F-EF4E-2254-D313A943587A}"/>
              </a:ext>
            </a:extLst>
          </p:cNvPr>
          <p:cNvCxnSpPr>
            <a:cxnSpLocks/>
          </p:cNvCxnSpPr>
          <p:nvPr/>
        </p:nvCxnSpPr>
        <p:spPr>
          <a:xfrm>
            <a:off x="2944464" y="4003337"/>
            <a:ext cx="1165225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A0667C-9065-7B8E-41EC-836D3A2E35A3}"/>
              </a:ext>
            </a:extLst>
          </p:cNvPr>
          <p:cNvCxnSpPr>
            <a:cxnSpLocks/>
          </p:cNvCxnSpPr>
          <p:nvPr/>
        </p:nvCxnSpPr>
        <p:spPr>
          <a:xfrm flipV="1">
            <a:off x="2964111" y="3844333"/>
            <a:ext cx="0" cy="15900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994D412-4D2F-7993-05FB-26BECC026B4D}"/>
              </a:ext>
            </a:extLst>
          </p:cNvPr>
          <p:cNvCxnSpPr>
            <a:cxnSpLocks/>
          </p:cNvCxnSpPr>
          <p:nvPr/>
        </p:nvCxnSpPr>
        <p:spPr>
          <a:xfrm>
            <a:off x="4169459" y="5488849"/>
            <a:ext cx="2" cy="40189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6FBF7AA-9942-A231-416A-2E75360A377F}"/>
              </a:ext>
            </a:extLst>
          </p:cNvPr>
          <p:cNvCxnSpPr>
            <a:cxnSpLocks/>
          </p:cNvCxnSpPr>
          <p:nvPr/>
        </p:nvCxnSpPr>
        <p:spPr>
          <a:xfrm>
            <a:off x="4327478" y="3983791"/>
            <a:ext cx="0" cy="2501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009E41-45E4-12FA-EE03-9C492B5A3EE8}"/>
              </a:ext>
            </a:extLst>
          </p:cNvPr>
          <p:cNvCxnSpPr>
            <a:cxnSpLocks/>
          </p:cNvCxnSpPr>
          <p:nvPr/>
        </p:nvCxnSpPr>
        <p:spPr>
          <a:xfrm>
            <a:off x="4316064" y="4003337"/>
            <a:ext cx="112588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1ECD2F-CE3D-9C08-4BB2-B050B5739CB5}"/>
              </a:ext>
            </a:extLst>
          </p:cNvPr>
          <p:cNvCxnSpPr>
            <a:cxnSpLocks/>
          </p:cNvCxnSpPr>
          <p:nvPr/>
        </p:nvCxnSpPr>
        <p:spPr>
          <a:xfrm flipV="1">
            <a:off x="5423172" y="2946639"/>
            <a:ext cx="0" cy="105669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93B4529-853A-3F21-D522-5C7D4B7EAB43}"/>
              </a:ext>
            </a:extLst>
          </p:cNvPr>
          <p:cNvCxnSpPr>
            <a:cxnSpLocks/>
          </p:cNvCxnSpPr>
          <p:nvPr/>
        </p:nvCxnSpPr>
        <p:spPr>
          <a:xfrm>
            <a:off x="9269897" y="2221351"/>
            <a:ext cx="2" cy="4018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45121C5-7486-1142-B014-C8D818EE10FB}"/>
              </a:ext>
            </a:extLst>
          </p:cNvPr>
          <p:cNvCxnSpPr>
            <a:cxnSpLocks/>
          </p:cNvCxnSpPr>
          <p:nvPr/>
        </p:nvCxnSpPr>
        <p:spPr>
          <a:xfrm>
            <a:off x="9269897" y="3193148"/>
            <a:ext cx="3" cy="3745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441D2B5-2573-15F4-1BB6-0F134C38F597}"/>
              </a:ext>
            </a:extLst>
          </p:cNvPr>
          <p:cNvCxnSpPr>
            <a:cxnSpLocks/>
          </p:cNvCxnSpPr>
          <p:nvPr/>
        </p:nvCxnSpPr>
        <p:spPr>
          <a:xfrm>
            <a:off x="7498706" y="2239803"/>
            <a:ext cx="177119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2E8B26B-68E1-C8B0-53DA-887B706769FE}"/>
              </a:ext>
            </a:extLst>
          </p:cNvPr>
          <p:cNvCxnSpPr>
            <a:cxnSpLocks/>
          </p:cNvCxnSpPr>
          <p:nvPr/>
        </p:nvCxnSpPr>
        <p:spPr>
          <a:xfrm flipV="1">
            <a:off x="7498706" y="2221351"/>
            <a:ext cx="0" cy="38003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41FF9AF-B2E2-5AC9-F242-9A5954703DEB}"/>
              </a:ext>
            </a:extLst>
          </p:cNvPr>
          <p:cNvCxnSpPr>
            <a:cxnSpLocks/>
          </p:cNvCxnSpPr>
          <p:nvPr/>
        </p:nvCxnSpPr>
        <p:spPr>
          <a:xfrm>
            <a:off x="6387089" y="6007932"/>
            <a:ext cx="113036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07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781D5-8286-1251-BA27-62754EDD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F035-9E0E-F4E0-6B84-76D90EE8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using </a:t>
            </a:r>
            <a:r>
              <a:rPr lang="en-US" dirty="0" err="1"/>
              <a:t>Ilastik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24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CAD9-4E01-7BB7-E030-F571E4B8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0E5BEC-59FA-33B5-6B62-B0779118140B}"/>
              </a:ext>
            </a:extLst>
          </p:cNvPr>
          <p:cNvSpPr/>
          <p:nvPr/>
        </p:nvSpPr>
        <p:spPr>
          <a:xfrm>
            <a:off x="8678318" y="3703166"/>
            <a:ext cx="2170472" cy="1341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C590A8-32A0-8682-2128-B5465E798396}"/>
              </a:ext>
            </a:extLst>
          </p:cNvPr>
          <p:cNvSpPr/>
          <p:nvPr/>
        </p:nvSpPr>
        <p:spPr>
          <a:xfrm>
            <a:off x="6382772" y="3703166"/>
            <a:ext cx="2170472" cy="1341900"/>
          </a:xfrm>
          <a:prstGeom prst="rect">
            <a:avLst/>
          </a:prstGeom>
          <a:solidFill>
            <a:srgbClr val="BFC7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7A341-FBD6-C696-82C4-DED86DB3ACF4}"/>
              </a:ext>
            </a:extLst>
          </p:cNvPr>
          <p:cNvSpPr/>
          <p:nvPr/>
        </p:nvSpPr>
        <p:spPr>
          <a:xfrm>
            <a:off x="1235552" y="1507896"/>
            <a:ext cx="4065573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39638-0EB8-06C0-8984-471AA466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using </a:t>
            </a:r>
            <a:r>
              <a:rPr lang="en-US" dirty="0" err="1"/>
              <a:t>Ilastik</a:t>
            </a:r>
            <a:endParaRPr lang="en-US" dirty="0"/>
          </a:p>
        </p:txBody>
      </p:sp>
      <p:pic>
        <p:nvPicPr>
          <p:cNvPr id="1037" name="Picture 13">
            <a:extLst>
              <a:ext uri="{FF2B5EF4-FFF2-40B4-BE49-F238E27FC236}">
                <a16:creationId xmlns:a16="http://schemas.microsoft.com/office/drawing/2014/main" id="{0D369BB4-921A-DEEB-3FA7-3D0D8853A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2558" y="2211123"/>
            <a:ext cx="1938567" cy="137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98FCD8D-5548-0099-4315-EDF247783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35552" y="2211123"/>
            <a:ext cx="1938566" cy="137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BEDA35DD-9B66-4D23-FDE3-A13F59DB6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244" y="3646258"/>
            <a:ext cx="1938566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D491965C-134A-9F77-2683-1A891EF0C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52" y="3646258"/>
            <a:ext cx="1938566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BE6E86E-A81D-057D-2DD0-58B842D0C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558" y="5023966"/>
            <a:ext cx="1941252" cy="164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2D049B19-1205-9843-31D6-53A86F447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52" y="5023966"/>
            <a:ext cx="1941252" cy="164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5D6EA0-8C7F-452E-8358-8FE5253696F7}"/>
              </a:ext>
            </a:extLst>
          </p:cNvPr>
          <p:cNvSpPr txBox="1"/>
          <p:nvPr/>
        </p:nvSpPr>
        <p:spPr>
          <a:xfrm>
            <a:off x="1543048" y="1835137"/>
            <a:ext cx="1323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Raw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8BF06-1EE1-6007-52F3-C4E09F3DC6DF}"/>
              </a:ext>
            </a:extLst>
          </p:cNvPr>
          <p:cNvSpPr txBox="1"/>
          <p:nvPr/>
        </p:nvSpPr>
        <p:spPr>
          <a:xfrm>
            <a:off x="3362559" y="1835137"/>
            <a:ext cx="193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Segmented mask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AC7E5-9EF0-5C07-379D-9B616F4E7510}"/>
              </a:ext>
            </a:extLst>
          </p:cNvPr>
          <p:cNvSpPr txBox="1"/>
          <p:nvPr/>
        </p:nvSpPr>
        <p:spPr>
          <a:xfrm>
            <a:off x="2299056" y="1513173"/>
            <a:ext cx="193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WT</a:t>
            </a:r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5C8F035E-4B9F-0F4D-5C5B-A05A3541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772" y="5101974"/>
            <a:ext cx="2182425" cy="152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CB7098AB-B038-A29C-DF2A-CFC0491BA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318" y="5101973"/>
            <a:ext cx="2182425" cy="152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A4B3B0B8-AEEB-D5C7-7DF7-61C136581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772" y="2259515"/>
            <a:ext cx="2170472" cy="13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0B27AEC8-7C2F-5425-A99E-3A48A4753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318" y="2259514"/>
            <a:ext cx="2170472" cy="13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A0CEBDC9-E942-3C7D-F0E0-4C958E601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700" y="3703166"/>
            <a:ext cx="2014616" cy="134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>
            <a:extLst>
              <a:ext uri="{FF2B5EF4-FFF2-40B4-BE49-F238E27FC236}">
                <a16:creationId xmlns:a16="http://schemas.microsoft.com/office/drawing/2014/main" id="{0872095B-1C57-62DF-C859-5CC0B91D9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221" y="3703166"/>
            <a:ext cx="2014617" cy="134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754821-9A0A-20D6-1938-90937AD3A541}"/>
              </a:ext>
            </a:extLst>
          </p:cNvPr>
          <p:cNvSpPr/>
          <p:nvPr/>
        </p:nvSpPr>
        <p:spPr>
          <a:xfrm>
            <a:off x="6583379" y="1507896"/>
            <a:ext cx="4065573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7D80C-C598-2EDB-4CD6-E539DF2E3D01}"/>
              </a:ext>
            </a:extLst>
          </p:cNvPr>
          <p:cNvSpPr txBox="1"/>
          <p:nvPr/>
        </p:nvSpPr>
        <p:spPr>
          <a:xfrm>
            <a:off x="6890875" y="1835137"/>
            <a:ext cx="1323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Raw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5D7AE-74DF-0DE1-D6F2-5D9063457B18}"/>
              </a:ext>
            </a:extLst>
          </p:cNvPr>
          <p:cNvSpPr txBox="1"/>
          <p:nvPr/>
        </p:nvSpPr>
        <p:spPr>
          <a:xfrm>
            <a:off x="8710386" y="1835137"/>
            <a:ext cx="193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Segmented mask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5AFBEE-E846-1127-E21D-A144AA45E553}"/>
              </a:ext>
            </a:extLst>
          </p:cNvPr>
          <p:cNvSpPr txBox="1"/>
          <p:nvPr/>
        </p:nvSpPr>
        <p:spPr>
          <a:xfrm>
            <a:off x="7646883" y="1513173"/>
            <a:ext cx="222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Treatment Infected</a:t>
            </a:r>
          </a:p>
        </p:txBody>
      </p:sp>
    </p:spTree>
    <p:extLst>
      <p:ext uri="{BB962C8B-B14F-4D97-AF65-F5344CB8AC3E}">
        <p14:creationId xmlns:p14="http://schemas.microsoft.com/office/powerpoint/2010/main" val="357533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82B6-089A-B8B6-777D-5B457D25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Quantification pipeline</a:t>
            </a:r>
          </a:p>
        </p:txBody>
      </p:sp>
    </p:spTree>
    <p:extLst>
      <p:ext uri="{BB962C8B-B14F-4D97-AF65-F5344CB8AC3E}">
        <p14:creationId xmlns:p14="http://schemas.microsoft.com/office/powerpoint/2010/main" val="116683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90F8-DFB6-3D85-6E3C-A67C30140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Prions deposit differently in the brain depending on the mouse genotype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1010E2-215A-4A3E-A01D-0F926EAED6DB}"/>
              </a:ext>
            </a:extLst>
          </p:cNvPr>
          <p:cNvGrpSpPr/>
          <p:nvPr/>
        </p:nvGrpSpPr>
        <p:grpSpPr>
          <a:xfrm>
            <a:off x="2626586" y="1886003"/>
            <a:ext cx="6661794" cy="4914649"/>
            <a:chOff x="2530173" y="1690688"/>
            <a:chExt cx="6665048" cy="49987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2E7A13-0DBF-7E5C-4534-54136796D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0173" y="1690688"/>
              <a:ext cx="6665048" cy="4998786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D5BCA66-B51E-1F93-90EB-4FA2A584963C}"/>
                </a:ext>
              </a:extLst>
            </p:cNvPr>
            <p:cNvCxnSpPr>
              <a:cxnSpLocks/>
            </p:cNvCxnSpPr>
            <p:nvPr/>
          </p:nvCxnSpPr>
          <p:spPr>
            <a:xfrm>
              <a:off x="5258092" y="4342215"/>
              <a:ext cx="1675815" cy="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8D42007-C296-0D7C-6401-FB1459809126}"/>
                </a:ext>
              </a:extLst>
            </p:cNvPr>
            <p:cNvCxnSpPr>
              <a:cxnSpLocks/>
            </p:cNvCxnSpPr>
            <p:nvPr/>
          </p:nvCxnSpPr>
          <p:spPr>
            <a:xfrm>
              <a:off x="7416748" y="5314713"/>
              <a:ext cx="1675815" cy="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8680A9C-C409-DF40-B4B4-60C35C283F7C}"/>
                </a:ext>
              </a:extLst>
            </p:cNvPr>
            <p:cNvSpPr txBox="1"/>
            <p:nvPr/>
          </p:nvSpPr>
          <p:spPr>
            <a:xfrm>
              <a:off x="3163032" y="3767140"/>
              <a:ext cx="342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C45339-2286-9EFA-76DD-FB515D6D8486}"/>
                </a:ext>
              </a:extLst>
            </p:cNvPr>
            <p:cNvSpPr txBox="1"/>
            <p:nvPr/>
          </p:nvSpPr>
          <p:spPr>
            <a:xfrm>
              <a:off x="4064726" y="2895088"/>
              <a:ext cx="48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C00000"/>
                  </a:solidFill>
                </a:rPr>
                <a:t>ab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305427F-FD0A-E20C-1750-1C28A52137D0}"/>
                </a:ext>
              </a:extLst>
            </p:cNvPr>
            <p:cNvSpPr txBox="1"/>
            <p:nvPr/>
          </p:nvSpPr>
          <p:spPr>
            <a:xfrm>
              <a:off x="3630685" y="3084514"/>
              <a:ext cx="344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032328D-C16E-BD0F-5D2D-45131C937E8A}"/>
                </a:ext>
              </a:extLst>
            </p:cNvPr>
            <p:cNvSpPr txBox="1"/>
            <p:nvPr/>
          </p:nvSpPr>
          <p:spPr>
            <a:xfrm>
              <a:off x="4603278" y="2174916"/>
              <a:ext cx="326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4EB1953-1AE1-20A9-CCB3-AB2038A1C82B}"/>
                </a:ext>
              </a:extLst>
            </p:cNvPr>
            <p:cNvSpPr txBox="1"/>
            <p:nvPr/>
          </p:nvSpPr>
          <p:spPr>
            <a:xfrm>
              <a:off x="5815804" y="4005415"/>
              <a:ext cx="595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 err="1">
                  <a:solidFill>
                    <a:srgbClr val="C00000"/>
                  </a:solidFill>
                </a:rPr>
                <a:t>n.s</a:t>
              </a:r>
              <a:r>
                <a:rPr lang="en-US" b="1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C9AC442-1D09-183C-98E6-CF6D2FCD3A95}"/>
                </a:ext>
              </a:extLst>
            </p:cNvPr>
            <p:cNvSpPr txBox="1"/>
            <p:nvPr/>
          </p:nvSpPr>
          <p:spPr>
            <a:xfrm>
              <a:off x="7956994" y="4945381"/>
              <a:ext cx="595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 err="1">
                  <a:solidFill>
                    <a:srgbClr val="C00000"/>
                  </a:solidFill>
                </a:rPr>
                <a:t>n.s</a:t>
              </a:r>
              <a:r>
                <a:rPr lang="en-US" b="1" dirty="0">
                  <a:solidFill>
                    <a:srgbClr val="C00000"/>
                  </a:solidFill>
                </a:rPr>
                <a:t>.</a:t>
              </a:r>
            </a:p>
          </p:txBody>
        </p:sp>
      </p:grpSp>
      <p:sp>
        <p:nvSpPr>
          <p:cNvPr id="16" name="TextBox 20">
            <a:extLst>
              <a:ext uri="{FF2B5EF4-FFF2-40B4-BE49-F238E27FC236}">
                <a16:creationId xmlns:a16="http://schemas.microsoft.com/office/drawing/2014/main" id="{FD6C4BB5-A753-F891-0E47-4BB2F2C04D29}"/>
              </a:ext>
            </a:extLst>
          </p:cNvPr>
          <p:cNvSpPr txBox="1"/>
          <p:nvPr/>
        </p:nvSpPr>
        <p:spPr>
          <a:xfrm>
            <a:off x="9185772" y="6492875"/>
            <a:ext cx="2993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(deposition~ group * brain region)</a:t>
            </a:r>
          </a:p>
        </p:txBody>
      </p:sp>
    </p:spTree>
    <p:extLst>
      <p:ext uri="{BB962C8B-B14F-4D97-AF65-F5344CB8AC3E}">
        <p14:creationId xmlns:p14="http://schemas.microsoft.com/office/powerpoint/2010/main" val="354665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10B7-41A3-FDAF-B667-83547881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Prions deposit differently in the brain depending on the mouse genotype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37826-5CAF-D439-DCEB-89D497E62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678" y="1740669"/>
            <a:ext cx="6746644" cy="5059983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9CFFF6F6-B995-FA0C-0E3F-F462506A926D}"/>
              </a:ext>
            </a:extLst>
          </p:cNvPr>
          <p:cNvSpPr txBox="1"/>
          <p:nvPr/>
        </p:nvSpPr>
        <p:spPr>
          <a:xfrm>
            <a:off x="3913305" y="221607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BE2CA73-48C1-E1A7-139D-5406C56CC9E1}"/>
              </a:ext>
            </a:extLst>
          </p:cNvPr>
          <p:cNvSpPr txBox="1"/>
          <p:nvPr/>
        </p:nvSpPr>
        <p:spPr>
          <a:xfrm>
            <a:off x="4876523" y="279515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AA5786A-4957-E53C-A646-12E6B66968EC}"/>
              </a:ext>
            </a:extLst>
          </p:cNvPr>
          <p:cNvSpPr txBox="1"/>
          <p:nvPr/>
        </p:nvSpPr>
        <p:spPr>
          <a:xfrm>
            <a:off x="6034010" y="215627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AFB2D26-B931-74B5-5505-551176EB331B}"/>
              </a:ext>
            </a:extLst>
          </p:cNvPr>
          <p:cNvSpPr txBox="1"/>
          <p:nvPr/>
        </p:nvSpPr>
        <p:spPr>
          <a:xfrm>
            <a:off x="6753526" y="279515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447667D-95C8-87D2-C39E-2C49AD9C09CA}"/>
              </a:ext>
            </a:extLst>
          </p:cNvPr>
          <p:cNvSpPr txBox="1"/>
          <p:nvPr/>
        </p:nvSpPr>
        <p:spPr>
          <a:xfrm>
            <a:off x="7481637" y="316448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2A605060-B3BF-FFBD-4834-6E23425306EE}"/>
              </a:ext>
            </a:extLst>
          </p:cNvPr>
          <p:cNvSpPr txBox="1"/>
          <p:nvPr/>
        </p:nvSpPr>
        <p:spPr>
          <a:xfrm>
            <a:off x="3858165" y="45199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741E6310-4AF9-5961-4727-EE5795A53AD8}"/>
              </a:ext>
            </a:extLst>
          </p:cNvPr>
          <p:cNvSpPr txBox="1"/>
          <p:nvPr/>
        </p:nvSpPr>
        <p:spPr>
          <a:xfrm>
            <a:off x="4941298" y="507392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5A64CBD-0CBD-4AA0-4227-1E2305DF13AE}"/>
              </a:ext>
            </a:extLst>
          </p:cNvPr>
          <p:cNvSpPr txBox="1"/>
          <p:nvPr/>
        </p:nvSpPr>
        <p:spPr>
          <a:xfrm>
            <a:off x="5942753" y="40160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6C087EB4-9736-9062-8C2C-E000C38DE365}"/>
              </a:ext>
            </a:extLst>
          </p:cNvPr>
          <p:cNvSpPr txBox="1"/>
          <p:nvPr/>
        </p:nvSpPr>
        <p:spPr>
          <a:xfrm>
            <a:off x="6778993" y="488925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937AB9F5-71ED-E9C0-918F-9C2D38BD41E9}"/>
              </a:ext>
            </a:extLst>
          </p:cNvPr>
          <p:cNvSpPr txBox="1"/>
          <p:nvPr/>
        </p:nvSpPr>
        <p:spPr>
          <a:xfrm>
            <a:off x="7481637" y="51708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269D65-CF0F-C19F-04F1-9EAF931337BA}"/>
              </a:ext>
            </a:extLst>
          </p:cNvPr>
          <p:cNvCxnSpPr>
            <a:cxnSpLocks/>
          </p:cNvCxnSpPr>
          <p:nvPr/>
        </p:nvCxnSpPr>
        <p:spPr>
          <a:xfrm>
            <a:off x="3584701" y="2525609"/>
            <a:ext cx="8577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702F30-29F2-4E2A-E704-A2AEABD6AE19}"/>
              </a:ext>
            </a:extLst>
          </p:cNvPr>
          <p:cNvCxnSpPr>
            <a:cxnSpLocks/>
          </p:cNvCxnSpPr>
          <p:nvPr/>
        </p:nvCxnSpPr>
        <p:spPr>
          <a:xfrm>
            <a:off x="3585192" y="4866133"/>
            <a:ext cx="85725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0">
            <a:extLst>
              <a:ext uri="{FF2B5EF4-FFF2-40B4-BE49-F238E27FC236}">
                <a16:creationId xmlns:a16="http://schemas.microsoft.com/office/drawing/2014/main" id="{16373410-053F-C1B9-3946-BA2BCB3AC2FC}"/>
              </a:ext>
            </a:extLst>
          </p:cNvPr>
          <p:cNvSpPr txBox="1"/>
          <p:nvPr/>
        </p:nvSpPr>
        <p:spPr>
          <a:xfrm>
            <a:off x="9185772" y="6492875"/>
            <a:ext cx="2993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(deposition~ group * brain region)</a:t>
            </a:r>
          </a:p>
        </p:txBody>
      </p:sp>
    </p:spTree>
    <p:extLst>
      <p:ext uri="{BB962C8B-B14F-4D97-AF65-F5344CB8AC3E}">
        <p14:creationId xmlns:p14="http://schemas.microsoft.com/office/powerpoint/2010/main" val="74257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151</Words>
  <Application>Microsoft Macintosh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Prion Deposition  Analysis Pipeline</vt:lpstr>
      <vt:lpstr>Background</vt:lpstr>
      <vt:lpstr>Biological question</vt:lpstr>
      <vt:lpstr>Analytical challenge</vt:lpstr>
      <vt:lpstr>Our pipeline approach</vt:lpstr>
      <vt:lpstr>Segmentation using Ilastik</vt:lpstr>
      <vt:lpstr>Segmentation using Ilastik</vt:lpstr>
      <vt:lpstr>Quantification pipeline</vt:lpstr>
      <vt:lpstr>Prions deposit differently in the brain depending on the mouse genotype</vt:lpstr>
      <vt:lpstr>Prions deposit differently in the brain depending on the mouse genotype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Hemmerlein</dc:creator>
  <cp:lastModifiedBy>Meg Hemmerlein</cp:lastModifiedBy>
  <cp:revision>1</cp:revision>
  <dcterms:created xsi:type="dcterms:W3CDTF">2026-06-12T12:31:30Z</dcterms:created>
  <dcterms:modified xsi:type="dcterms:W3CDTF">2026-06-12T14:44:20Z</dcterms:modified>
</cp:coreProperties>
</file>