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3" r:id="rId1"/>
  </p:sldMasterIdLst>
  <p:notesMasterIdLst>
    <p:notesMasterId r:id="rId12"/>
  </p:notesMasterIdLst>
  <p:sldIdLst>
    <p:sldId id="267" r:id="rId2"/>
    <p:sldId id="277" r:id="rId3"/>
    <p:sldId id="269" r:id="rId4"/>
    <p:sldId id="278" r:id="rId5"/>
    <p:sldId id="280" r:id="rId6"/>
    <p:sldId id="272" r:id="rId7"/>
    <p:sldId id="279" r:id="rId8"/>
    <p:sldId id="274" r:id="rId9"/>
    <p:sldId id="275" r:id="rId10"/>
    <p:sldId id="276" r:id="rId11"/>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4654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Our team built an end-to-end pipeline to automatically detect, quantify, and visualize PrP prion deposition in histological brain images — combining Ilastik pixel classification with R-based spatial analysis.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Prion disease pathology requires detecting misfolded PrP aggregates across heterogeneous brain tissue. Current manual workflows are slow, subjective, and can't capture spatial patterns — exactly what our pipeline solves.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has two main stages: Ilastik is trained to classify every pixel as background, brain tissue, or prion deposition. Then R reads the output masks, counts pixels per class, and computes deposition fraction (deposition pixels / brain pixels) per image.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Ilastik's interactive pixel classification lets us train on a small number of annotated pixels. The Random Forest model then classifies all pixels and exports grayscale masks with values 1, 2, 3 for background, brain, and deposition respectively.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 scripts handle the analysis. pipeline.R loads images and parses the standardized filename into metadata. Image_Analysis_Pipeline.R then reads the Ilastik masks, counts pixels per class, and produces the key metric: deposition fraction — the proportion of brain tissue area covered by PrP deposits.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produces four outputs: QC overlays for visual review, a regional heatmap for broad patterns, boxplots per brain region to compare treatment groups, and a tidy summary table for any downstream statistical analysis.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designed to be interpretable beyond just a prediction output. By reporting deposition fraction per brain region, a pathologist can directly read the results without computational expertise. Regional comparisons enable disease staging and prion strain characterization.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user can clone the repository and run the pipeline with minimal setup. The README documents all inputs, outputs, dependencies, and the file naming convention. All rubric criteria for code documentation and reproducibility are addressed.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rubric requirements: all AI tool usage is disclosed here. Ilastik is the core ML engine. Claude assisted with documentation and code templates — all outputs were critically reviewed and tested. Version control is on GitHub with a descriptive commit history showing iterative development.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we built a complete, reproducible pipeline that converts raw histological brain images into quantitative deposition scores per brain region. The pipeline is documented, modular, and generalizable. Next steps include formal statistical testing across groups and potentially training a deep learning model.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36346" y="1341340"/>
            <a:ext cx="6270922" cy="1573670"/>
          </a:xfrm>
        </p:spPr>
        <p:txBody>
          <a:bodyPr anchor="b">
            <a:noAutofit/>
          </a:bodyPr>
          <a:lstStyle>
            <a:lvl1pPr algn="ctr">
              <a:defRPr sz="54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009930" y="2967210"/>
            <a:ext cx="5123755" cy="814678"/>
          </a:xfrm>
        </p:spPr>
        <p:txBody>
          <a:bodyPr>
            <a:normAutofit/>
          </a:bodyPr>
          <a:lstStyle>
            <a:lvl1pPr marL="0" indent="0" algn="ctr">
              <a:lnSpc>
                <a:spcPct val="112000"/>
              </a:lnSpc>
              <a:spcBef>
                <a:spcPts val="0"/>
              </a:spcBef>
              <a:spcAft>
                <a:spcPts val="0"/>
              </a:spcAft>
              <a:buNone/>
              <a:defRPr sz="1725">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564643" y="4840039"/>
            <a:ext cx="1205958" cy="303461"/>
          </a:xfrm>
        </p:spPr>
        <p:txBody>
          <a:bodyPr/>
          <a:lstStyle>
            <a:lvl1pPr>
              <a:defRPr baseline="0">
                <a:solidFill>
                  <a:schemeClr val="tx2"/>
                </a:solidFill>
              </a:defRPr>
            </a:lvl1pPr>
          </a:lstStyle>
          <a:p>
            <a:fld id="{C764DE79-268F-4C1A-8933-263129D2AF90}" type="datetimeFigureOut">
              <a:rPr lang="en-US" smtClean="0"/>
              <a:t>6/11/26</a:t>
            </a:fld>
            <a:endParaRPr lang="en-US" dirty="0"/>
          </a:p>
        </p:txBody>
      </p:sp>
      <p:sp>
        <p:nvSpPr>
          <p:cNvPr id="5" name="Footer Placeholder 4"/>
          <p:cNvSpPr>
            <a:spLocks noGrp="1"/>
          </p:cNvSpPr>
          <p:nvPr>
            <p:ph type="ftr" sz="quarter" idx="11"/>
          </p:nvPr>
        </p:nvSpPr>
        <p:spPr>
          <a:xfrm>
            <a:off x="1938041" y="4840039"/>
            <a:ext cx="5267533" cy="303461"/>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7373012" y="4840039"/>
            <a:ext cx="1197219" cy="303461"/>
          </a:xfrm>
        </p:spPr>
        <p:txBody>
          <a:bodyPr/>
          <a:lstStyle>
            <a:lvl1pPr>
              <a:defRPr baseline="0">
                <a:solidFill>
                  <a:schemeClr val="tx2"/>
                </a:solidFill>
              </a:defRPr>
            </a:lvl1pPr>
          </a:lstStyle>
          <a:p>
            <a:fld id="{48F63A3B-78C7-47BE-AE5E-E10140E04643}" type="slidenum">
              <a:rPr lang="en-US" smtClean="0"/>
              <a:t>‹#›</a:t>
            </a:fld>
            <a:endParaRPr lang="en-US" dirty="0"/>
          </a:p>
        </p:txBody>
      </p:sp>
      <p:grpSp>
        <p:nvGrpSpPr>
          <p:cNvPr id="9" name="Group 8"/>
          <p:cNvGrpSpPr/>
          <p:nvPr/>
        </p:nvGrpSpPr>
        <p:grpSpPr>
          <a:xfrm>
            <a:off x="564644" y="558352"/>
            <a:ext cx="8005588" cy="4012253"/>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07623096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6170294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73769" y="976020"/>
            <a:ext cx="7209728" cy="2139553"/>
          </a:xfrm>
        </p:spPr>
        <p:txBody>
          <a:bodyPr anchor="b">
            <a:normAutofit/>
          </a:bodyPr>
          <a:lstStyle>
            <a:lvl1pPr algn="r">
              <a:defRPr sz="54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73769" y="3162246"/>
            <a:ext cx="7209728" cy="857493"/>
          </a:xfrm>
        </p:spPr>
        <p:txBody>
          <a:bodyPr/>
          <a:lstStyle>
            <a:lvl1pPr marL="0" indent="0" algn="r">
              <a:lnSpc>
                <a:spcPct val="112000"/>
              </a:lnSpc>
              <a:spcBef>
                <a:spcPts val="0"/>
              </a:spcBef>
              <a:spcAft>
                <a:spcPts val="0"/>
              </a:spcAft>
              <a:buNone/>
              <a:defRPr sz="1800">
                <a:solidFill>
                  <a:schemeClr val="tx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4181" y="4840039"/>
            <a:ext cx="1216807" cy="303461"/>
          </a:xfrm>
        </p:spPr>
        <p:txBody>
          <a:bodyPr/>
          <a:lstStyle>
            <a:lvl1pPr>
              <a:defRPr>
                <a:solidFill>
                  <a:schemeClr val="tx2"/>
                </a:solidFill>
              </a:defRPr>
            </a:lvl1pPr>
          </a:lstStyle>
          <a:p>
            <a:fld id="{C764DE79-268F-4C1A-8933-263129D2AF90}" type="datetimeFigureOut">
              <a:rPr lang="en-US" smtClean="0"/>
              <a:t>6/11/26</a:t>
            </a:fld>
            <a:endParaRPr lang="en-US" dirty="0"/>
          </a:p>
        </p:txBody>
      </p:sp>
      <p:sp>
        <p:nvSpPr>
          <p:cNvPr id="5" name="Footer Placeholder 4"/>
          <p:cNvSpPr>
            <a:spLocks noGrp="1"/>
          </p:cNvSpPr>
          <p:nvPr>
            <p:ph type="ftr" sz="quarter" idx="11"/>
          </p:nvPr>
        </p:nvSpPr>
        <p:spPr>
          <a:xfrm>
            <a:off x="1938234" y="4840039"/>
            <a:ext cx="5267533" cy="303461"/>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7373012" y="4840039"/>
            <a:ext cx="1197219" cy="303461"/>
          </a:xfrm>
        </p:spPr>
        <p:txBody>
          <a:bodyPr/>
          <a:lstStyle>
            <a:lvl1pPr>
              <a:defRPr>
                <a:solidFill>
                  <a:schemeClr val="tx2"/>
                </a:solidFill>
              </a:defRPr>
            </a:lvl1pPr>
          </a:lstStyle>
          <a:p>
            <a:fld id="{48F63A3B-78C7-47BE-AE5E-E10140E04643}" type="slidenum">
              <a:rPr lang="en-US" smtClean="0"/>
              <a:t>‹#›</a:t>
            </a:fld>
            <a:endParaRPr lang="en-US" dirty="0"/>
          </a:p>
        </p:txBody>
      </p:sp>
      <p:sp>
        <p:nvSpPr>
          <p:cNvPr id="7" name="Freeform 6" title="Crop Mark"/>
          <p:cNvSpPr/>
          <p:nvPr/>
        </p:nvSpPr>
        <p:spPr bwMode="auto">
          <a:xfrm>
            <a:off x="6113972" y="1264239"/>
            <a:ext cx="2456260" cy="3306366"/>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4132692036"/>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028700" y="1714500"/>
            <a:ext cx="3335840" cy="268605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94052" y="1714500"/>
            <a:ext cx="3335840" cy="268605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6/11/26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2332212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28700" y="514350"/>
            <a:ext cx="7200900" cy="1114425"/>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28700" y="1755648"/>
            <a:ext cx="3332988" cy="617934"/>
          </a:xfrm>
        </p:spPr>
        <p:txBody>
          <a:bodyPr anchor="b">
            <a:noAutofit/>
          </a:bodyPr>
          <a:lstStyle>
            <a:lvl1pPr marL="0" indent="0">
              <a:lnSpc>
                <a:spcPct val="84000"/>
              </a:lnSpc>
              <a:spcBef>
                <a:spcPts val="0"/>
              </a:spcBef>
              <a:spcAft>
                <a:spcPts val="0"/>
              </a:spcAft>
              <a:buNone/>
              <a:defRPr sz="225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028700" y="2478906"/>
            <a:ext cx="3332988" cy="1921645"/>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93761" y="1755648"/>
            <a:ext cx="3332988" cy="617934"/>
          </a:xfrm>
        </p:spPr>
        <p:txBody>
          <a:bodyPr anchor="b">
            <a:noAutofit/>
          </a:bodyPr>
          <a:lstStyle>
            <a:lvl1pPr marL="0" indent="0">
              <a:lnSpc>
                <a:spcPct val="84000"/>
              </a:lnSpc>
              <a:spcBef>
                <a:spcPts val="0"/>
              </a:spcBef>
              <a:spcAft>
                <a:spcPts val="0"/>
              </a:spcAft>
              <a:buNone/>
              <a:defRPr sz="2250" b="0"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93761" y="2478906"/>
            <a:ext cx="3332988" cy="1921645"/>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6/11/26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4699828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6/11/26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5854248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6/11/26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7965349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282"/>
            <a:ext cx="3977640" cy="5143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514350"/>
            <a:ext cx="2891790" cy="1618413"/>
          </a:xfrm>
        </p:spPr>
        <p:txBody>
          <a:bodyPr anchor="t">
            <a:noAutofit/>
          </a:bodyPr>
          <a:lstStyle>
            <a:lvl1pPr>
              <a:lnSpc>
                <a:spcPct val="84000"/>
              </a:lnSpc>
              <a:defRPr sz="36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4692015" y="514350"/>
            <a:ext cx="3909060" cy="3881438"/>
          </a:xfrm>
        </p:spPr>
        <p:txBody>
          <a:bodyPr/>
          <a:lstStyle>
            <a:lvl1pPr>
              <a:defRPr sz="1500"/>
            </a:lvl1pPr>
            <a:lvl2pPr>
              <a:defRPr sz="1500"/>
            </a:lvl2pPr>
            <a:lvl3pPr>
              <a:defRPr sz="1350"/>
            </a:lvl3pPr>
            <a:lvl4pPr>
              <a:defRPr sz="135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2925" y="2142258"/>
            <a:ext cx="2891790" cy="2258292"/>
          </a:xfrm>
        </p:spPr>
        <p:txBody>
          <a:bodyPr/>
          <a:lstStyle>
            <a:lvl1pPr marL="0" indent="0">
              <a:lnSpc>
                <a:spcPct val="113000"/>
              </a:lnSpc>
              <a:spcBef>
                <a:spcPts val="0"/>
              </a:spcBef>
              <a:spcAft>
                <a:spcPts val="1125"/>
              </a:spcAft>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42925" y="4840039"/>
            <a:ext cx="903429" cy="303461"/>
          </a:xfrm>
        </p:spPr>
        <p:txBody>
          <a:bodyPr/>
          <a:lstStyle>
            <a:lvl1pPr>
              <a:defRPr>
                <a:solidFill>
                  <a:schemeClr val="tx2"/>
                </a:solidFill>
              </a:defRPr>
            </a:lvl1pPr>
          </a:lstStyle>
          <a:p>
            <a:fld id="{C764DE79-268F-4C1A-8933-263129D2AF90}" type="datetimeFigureOut">
              <a:rPr lang="en-US" smtClean="0"/>
              <a:t>6/11/26</a:t>
            </a:fld>
            <a:endParaRPr lang="en-US" dirty="0"/>
          </a:p>
        </p:txBody>
      </p:sp>
      <p:sp>
        <p:nvSpPr>
          <p:cNvPr id="6" name="Footer Placeholder 5"/>
          <p:cNvSpPr>
            <a:spLocks noGrp="1"/>
          </p:cNvSpPr>
          <p:nvPr>
            <p:ph type="ftr" sz="quarter" idx="11"/>
          </p:nvPr>
        </p:nvSpPr>
        <p:spPr>
          <a:xfrm>
            <a:off x="1654459" y="4840039"/>
            <a:ext cx="1780256" cy="303461"/>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7412355" y="4840039"/>
            <a:ext cx="1197219" cy="303461"/>
          </a:xfrm>
        </p:spPr>
        <p:txBody>
          <a:bodyPr/>
          <a:lstStyle>
            <a:lvl1pPr>
              <a:defRPr>
                <a:solidFill>
                  <a:schemeClr val="tx2"/>
                </a:solidFill>
              </a:defRPr>
            </a:lvl1pPr>
          </a:lstStyle>
          <a:p>
            <a:fld id="{48F63A3B-78C7-47BE-AE5E-E10140E04643}" type="slidenum">
              <a:rPr lang="en-US" smtClean="0"/>
              <a:t>‹#›</a:t>
            </a:fld>
            <a:endParaRPr lang="en-US" dirty="0"/>
          </a:p>
        </p:txBody>
      </p:sp>
      <p:sp>
        <p:nvSpPr>
          <p:cNvPr id="9" name="Rectangle 8" title="Divider Bar"/>
          <p:cNvSpPr/>
          <p:nvPr/>
        </p:nvSpPr>
        <p:spPr>
          <a:xfrm>
            <a:off x="3977640"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9501229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282"/>
            <a:ext cx="3977640" cy="51432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2925" y="514350"/>
            <a:ext cx="2891790" cy="1618413"/>
          </a:xfrm>
        </p:spPr>
        <p:txBody>
          <a:bodyPr anchor="t">
            <a:normAutofit/>
          </a:bodyPr>
          <a:lstStyle>
            <a:lvl1pPr>
              <a:lnSpc>
                <a:spcPct val="84000"/>
              </a:lnSpc>
              <a:defRPr sz="36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4149090" y="1"/>
            <a:ext cx="4994910" cy="5143499"/>
          </a:xfrm>
        </p:spPr>
        <p:txBody>
          <a:bodyPr anchor="t">
            <a:normAutofit/>
          </a:bodyPr>
          <a:lstStyle>
            <a:lvl1pPr marL="0" indent="0">
              <a:buNone/>
              <a:defRPr sz="1500"/>
            </a:lvl1pPr>
            <a:lvl2pPr marL="342900" indent="0">
              <a:buNone/>
              <a:defRPr sz="1500"/>
            </a:lvl2pPr>
            <a:lvl3pPr marL="685800" indent="0">
              <a:buNone/>
              <a:defRPr sz="15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542925" y="2141976"/>
            <a:ext cx="2891790" cy="2258574"/>
          </a:xfrm>
        </p:spPr>
        <p:txBody>
          <a:bodyPr/>
          <a:lstStyle>
            <a:lvl1pPr marL="0" indent="0">
              <a:lnSpc>
                <a:spcPct val="113000"/>
              </a:lnSpc>
              <a:spcBef>
                <a:spcPts val="0"/>
              </a:spcBef>
              <a:spcAft>
                <a:spcPts val="1125"/>
              </a:spcAft>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542925" y="4840039"/>
            <a:ext cx="903429" cy="303461"/>
          </a:xfrm>
        </p:spPr>
        <p:txBody>
          <a:bodyPr/>
          <a:lstStyle>
            <a:lvl1pPr>
              <a:defRPr>
                <a:solidFill>
                  <a:schemeClr val="tx2"/>
                </a:solidFill>
              </a:defRPr>
            </a:lvl1pPr>
          </a:lstStyle>
          <a:p>
            <a:fld id="{C764DE79-268F-4C1A-8933-263129D2AF90}" type="datetimeFigureOut">
              <a:rPr lang="en-US" smtClean="0"/>
              <a:t>6/11/26</a:t>
            </a:fld>
            <a:endParaRPr lang="en-US" dirty="0"/>
          </a:p>
        </p:txBody>
      </p:sp>
      <p:sp>
        <p:nvSpPr>
          <p:cNvPr id="6" name="Footer Placeholder 5"/>
          <p:cNvSpPr>
            <a:spLocks noGrp="1"/>
          </p:cNvSpPr>
          <p:nvPr>
            <p:ph type="ftr" sz="quarter" idx="11"/>
          </p:nvPr>
        </p:nvSpPr>
        <p:spPr>
          <a:xfrm>
            <a:off x="1654459" y="4840039"/>
            <a:ext cx="1780256" cy="303461"/>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7412355" y="4840039"/>
            <a:ext cx="1197219" cy="303461"/>
          </a:xfrm>
        </p:spPr>
        <p:txBody>
          <a:bodyPr/>
          <a:lstStyle>
            <a:lvl1pPr>
              <a:defRPr>
                <a:solidFill>
                  <a:schemeClr val="tx2"/>
                </a:solidFill>
              </a:defRPr>
            </a:lvl1pPr>
          </a:lstStyle>
          <a:p>
            <a:fld id="{48F63A3B-78C7-47BE-AE5E-E10140E04643}" type="slidenum">
              <a:rPr lang="en-US" smtClean="0"/>
              <a:t>‹#›</a:t>
            </a:fld>
            <a:endParaRPr lang="en-US" dirty="0"/>
          </a:p>
        </p:txBody>
      </p:sp>
      <p:sp>
        <p:nvSpPr>
          <p:cNvPr id="9" name="Rectangle 8" title="Divider Bar"/>
          <p:cNvSpPr/>
          <p:nvPr/>
        </p:nvSpPr>
        <p:spPr>
          <a:xfrm>
            <a:off x="3977640"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2269915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028700" y="1721644"/>
            <a:ext cx="7200900" cy="26789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1474761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7421" y="468117"/>
            <a:ext cx="1174325" cy="393243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28700" y="468117"/>
            <a:ext cx="6134731" cy="39324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6796717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4049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8700" y="514350"/>
            <a:ext cx="7200900" cy="111442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028700" y="1714500"/>
            <a:ext cx="7200900" cy="2686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42987" y="4840039"/>
            <a:ext cx="903429" cy="303461"/>
          </a:xfrm>
          <a:prstGeom prst="rect">
            <a:avLst/>
          </a:prstGeom>
        </p:spPr>
        <p:txBody>
          <a:bodyPr vert="horz" lIns="91440" tIns="45720" rIns="91440" bIns="45720" rtlCol="0" anchor="ctr"/>
          <a:lstStyle>
            <a:lvl1pPr algn="l">
              <a:defRPr sz="900" baseline="0">
                <a:solidFill>
                  <a:schemeClr val="tx2"/>
                </a:solidFill>
              </a:defRPr>
            </a:lvl1pPr>
          </a:lstStyle>
          <a:p>
            <a:fld id="{C764DE79-268F-4C1A-8933-263129D2AF90}" type="datetimeFigureOut">
              <a:rPr lang="en-US" smtClean="0"/>
              <a:t>6/11/26</a:t>
            </a:fld>
            <a:endParaRPr lang="en-US" dirty="0"/>
          </a:p>
        </p:txBody>
      </p:sp>
      <p:sp>
        <p:nvSpPr>
          <p:cNvPr id="5" name="Footer Placeholder 4"/>
          <p:cNvSpPr>
            <a:spLocks noGrp="1"/>
          </p:cNvSpPr>
          <p:nvPr>
            <p:ph type="ftr" sz="quarter" idx="3"/>
          </p:nvPr>
        </p:nvSpPr>
        <p:spPr>
          <a:xfrm>
            <a:off x="2170173" y="4840039"/>
            <a:ext cx="4710623" cy="303461"/>
          </a:xfrm>
          <a:prstGeom prst="rect">
            <a:avLst/>
          </a:prstGeom>
        </p:spPr>
        <p:txBody>
          <a:bodyPr vert="horz" lIns="91440" tIns="45720" rIns="91440" bIns="45720" rtlCol="0" anchor="ctr"/>
          <a:lstStyle>
            <a:lvl1pPr algn="l">
              <a:defRPr sz="9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7104552" y="4840039"/>
            <a:ext cx="1197219" cy="303461"/>
          </a:xfrm>
          <a:prstGeom prst="rect">
            <a:avLst/>
          </a:prstGeom>
        </p:spPr>
        <p:txBody>
          <a:bodyPr vert="horz" lIns="91440" tIns="45720" rIns="91440" bIns="45720" rtlCol="0" anchor="ctr"/>
          <a:lstStyle>
            <a:lvl1pPr algn="r">
              <a:defRPr sz="900" baseline="0">
                <a:solidFill>
                  <a:schemeClr val="tx2"/>
                </a:solidFill>
              </a:defRPr>
            </a:lvl1pPr>
          </a:lstStyle>
          <a:p>
            <a:fld id="{48F63A3B-78C7-47BE-AE5E-E10140E04643}" type="slidenum">
              <a:rPr lang="en-US" smtClean="0"/>
              <a:t>‹#›</a:t>
            </a:fld>
            <a:endParaRPr lang="en-US" dirty="0"/>
          </a:p>
        </p:txBody>
      </p:sp>
      <p:sp>
        <p:nvSpPr>
          <p:cNvPr id="9" name="Rectangle 8" title="Side bar"/>
          <p:cNvSpPr/>
          <p:nvPr/>
        </p:nvSpPr>
        <p:spPr>
          <a:xfrm>
            <a:off x="358571" y="282"/>
            <a:ext cx="17145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676356235"/>
      </p:ext>
    </p:extLst>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Lst>
  <p:hf sldNum="0" hdr="0" ftr="0" dt="0"/>
  <p:txStyles>
    <p:titleStyle>
      <a:lvl1pPr algn="l" defTabSz="685800" rtl="0" eaLnBrk="1" latinLnBrk="0" hangingPunct="1">
        <a:lnSpc>
          <a:spcPct val="89000"/>
        </a:lnSpc>
        <a:spcBef>
          <a:spcPct val="0"/>
        </a:spcBef>
        <a:buNone/>
        <a:defRPr sz="3300" kern="1200" baseline="0">
          <a:solidFill>
            <a:schemeClr val="tx2"/>
          </a:solidFill>
          <a:latin typeface="+mj-lt"/>
          <a:ea typeface="+mj-ea"/>
          <a:cs typeface="+mj-cs"/>
        </a:defRPr>
      </a:lvl1pPr>
    </p:titleStyle>
    <p:bodyStyle>
      <a:lvl1pPr marL="288036" indent="-288036" algn="l" defTabSz="685800" rtl="0" eaLnBrk="1" latinLnBrk="0" hangingPunct="1">
        <a:lnSpc>
          <a:spcPct val="94000"/>
        </a:lnSpc>
        <a:spcBef>
          <a:spcPts val="750"/>
        </a:spcBef>
        <a:spcAft>
          <a:spcPts val="150"/>
        </a:spcAft>
        <a:buFont typeface="Franklin Gothic Book" panose="020B0503020102020204" pitchFamily="34" charset="0"/>
        <a:buChar char="■"/>
        <a:defRPr sz="1500" kern="1200" baseline="0">
          <a:solidFill>
            <a:schemeClr val="tx2"/>
          </a:solidFill>
          <a:latin typeface="+mn-lt"/>
          <a:ea typeface="+mn-ea"/>
          <a:cs typeface="+mn-cs"/>
        </a:defRPr>
      </a:lvl1pPr>
      <a:lvl2pPr marL="6858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500" i="1" kern="1200" baseline="0">
          <a:solidFill>
            <a:schemeClr val="tx2"/>
          </a:solidFill>
          <a:latin typeface="+mn-lt"/>
          <a:ea typeface="+mn-ea"/>
          <a:cs typeface="+mn-cs"/>
        </a:defRPr>
      </a:lvl2pPr>
      <a:lvl3pPr marL="10287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350" kern="1200" baseline="0">
          <a:solidFill>
            <a:schemeClr val="tx2"/>
          </a:solidFill>
          <a:latin typeface="+mn-lt"/>
          <a:ea typeface="+mn-ea"/>
          <a:cs typeface="+mn-cs"/>
        </a:defRPr>
      </a:lvl3pPr>
      <a:lvl4pPr marL="13716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350" i="1" kern="1200" baseline="0">
          <a:solidFill>
            <a:schemeClr val="tx2"/>
          </a:solidFill>
          <a:latin typeface="+mn-lt"/>
          <a:ea typeface="+mn-ea"/>
          <a:cs typeface="+mn-cs"/>
        </a:defRPr>
      </a:lvl4pPr>
      <a:lvl5pPr marL="17145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200" kern="1200" baseline="0">
          <a:solidFill>
            <a:schemeClr val="tx2"/>
          </a:solidFill>
          <a:latin typeface="+mn-lt"/>
          <a:ea typeface="+mn-ea"/>
          <a:cs typeface="+mn-cs"/>
        </a:defRPr>
      </a:lvl5pPr>
      <a:lvl6pPr marL="20574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200" i="1" kern="1200" baseline="0">
          <a:solidFill>
            <a:schemeClr val="tx2"/>
          </a:solidFill>
          <a:latin typeface="+mn-lt"/>
          <a:ea typeface="+mn-ea"/>
          <a:cs typeface="+mn-cs"/>
        </a:defRPr>
      </a:lvl6pPr>
      <a:lvl7pPr marL="24003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050" kern="1200" baseline="0">
          <a:solidFill>
            <a:schemeClr val="tx2"/>
          </a:solidFill>
          <a:latin typeface="+mn-lt"/>
          <a:ea typeface="+mn-ea"/>
          <a:cs typeface="+mn-cs"/>
        </a:defRPr>
      </a:lvl7pPr>
      <a:lvl8pPr marL="27432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050" i="1" kern="1200" baseline="0">
          <a:solidFill>
            <a:schemeClr val="tx2"/>
          </a:solidFill>
          <a:latin typeface="+mn-lt"/>
          <a:ea typeface="+mn-ea"/>
          <a:cs typeface="+mn-cs"/>
        </a:defRPr>
      </a:lvl8pPr>
      <a:lvl9pPr marL="3086100" indent="-288036" algn="l" defTabSz="685800" rtl="0" eaLnBrk="1" latinLnBrk="0" hangingPunct="1">
        <a:lnSpc>
          <a:spcPct val="94000"/>
        </a:lnSpc>
        <a:spcBef>
          <a:spcPts val="375"/>
        </a:spcBef>
        <a:spcAft>
          <a:spcPts val="150"/>
        </a:spcAft>
        <a:buFont typeface="Franklin Gothic Book" panose="020B0503020102020204" pitchFamily="34" charset="0"/>
        <a:buChar char="■"/>
        <a:defRPr sz="1050" kern="1200" baseline="0">
          <a:solidFill>
            <a:schemeClr val="tx2"/>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1097280"/>
            <a:ext cx="9144000" cy="237744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1097280"/>
            <a:ext cx="201168" cy="2377440"/>
          </a:xfrm>
          <a:prstGeom prst="rect">
            <a:avLst/>
          </a:prstGeom>
          <a:solidFill>
            <a:srgbClr val="2E6DA4"/>
          </a:solidFill>
          <a:ln w="12700">
            <a:solidFill>
              <a:srgbClr val="2E6DA4"/>
            </a:solidFill>
            <a:prstDash val="solid"/>
          </a:ln>
        </p:spPr>
        <p:txBody>
          <a:bodyPr/>
          <a:lstStyle/>
          <a:p>
            <a:endParaRPr lang="en-US"/>
          </a:p>
        </p:txBody>
      </p:sp>
      <p:sp>
        <p:nvSpPr>
          <p:cNvPr id="4" name="Text 2"/>
          <p:cNvSpPr/>
          <p:nvPr/>
        </p:nvSpPr>
        <p:spPr>
          <a:xfrm>
            <a:off x="457200" y="1170432"/>
            <a:ext cx="8229600" cy="777240"/>
          </a:xfrm>
          <a:prstGeom prst="rect">
            <a:avLst/>
          </a:prstGeom>
          <a:noFill/>
          <a:ln/>
        </p:spPr>
        <p:txBody>
          <a:bodyPr wrap="square" lIns="0" tIns="0" rIns="0" bIns="0" rtlCol="0" anchor="ctr"/>
          <a:lstStyle/>
          <a:p>
            <a:pPr marL="0" indent="0" algn="l">
              <a:buNone/>
            </a:pPr>
            <a:r>
              <a:rPr lang="en-US" sz="5200" b="1" dirty="0">
                <a:solidFill>
                  <a:srgbClr val="1A2A4A"/>
                </a:solidFill>
                <a:latin typeface="Cambria" pitchFamily="34" charset="0"/>
                <a:ea typeface="Cambria" pitchFamily="34" charset="-122"/>
                <a:cs typeface="Cambria" pitchFamily="34" charset="-120"/>
              </a:rPr>
              <a:t>Prion Deposit</a:t>
            </a:r>
            <a:endParaRPr lang="en-US" sz="5200" dirty="0"/>
          </a:p>
        </p:txBody>
      </p:sp>
      <p:sp>
        <p:nvSpPr>
          <p:cNvPr id="5" name="Text 3"/>
          <p:cNvSpPr/>
          <p:nvPr/>
        </p:nvSpPr>
        <p:spPr>
          <a:xfrm>
            <a:off x="457200" y="1901952"/>
            <a:ext cx="8229600" cy="777240"/>
          </a:xfrm>
          <a:prstGeom prst="rect">
            <a:avLst/>
          </a:prstGeom>
          <a:noFill/>
          <a:ln/>
        </p:spPr>
        <p:txBody>
          <a:bodyPr wrap="square" lIns="0" tIns="0" rIns="0" bIns="0" rtlCol="0" anchor="ctr"/>
          <a:lstStyle/>
          <a:p>
            <a:pPr marL="0" indent="0" algn="l">
              <a:buNone/>
            </a:pPr>
            <a:r>
              <a:rPr lang="en-US" sz="5200" b="1" dirty="0">
                <a:solidFill>
                  <a:srgbClr val="1A2A4A"/>
                </a:solidFill>
                <a:latin typeface="Cambria" pitchFamily="34" charset="0"/>
                <a:ea typeface="Cambria" pitchFamily="34" charset="-122"/>
                <a:cs typeface="Cambria" pitchFamily="34" charset="-120"/>
              </a:rPr>
              <a:t>Analysis Pipeline</a:t>
            </a:r>
            <a:endParaRPr lang="en-US" sz="5200" dirty="0"/>
          </a:p>
        </p:txBody>
      </p:sp>
      <p:sp>
        <p:nvSpPr>
          <p:cNvPr id="6" name="Text 4"/>
          <p:cNvSpPr/>
          <p:nvPr/>
        </p:nvSpPr>
        <p:spPr>
          <a:xfrm>
            <a:off x="457200" y="2788920"/>
            <a:ext cx="8229600" cy="411480"/>
          </a:xfrm>
          <a:prstGeom prst="rect">
            <a:avLst/>
          </a:prstGeom>
          <a:noFill/>
          <a:ln/>
        </p:spPr>
        <p:txBody>
          <a:bodyPr wrap="square" lIns="0" tIns="0" rIns="0" bIns="0" rtlCol="0" anchor="ctr"/>
          <a:lstStyle/>
          <a:p>
            <a:pPr marL="0" indent="0" algn="l">
              <a:buNone/>
            </a:pPr>
            <a:r>
              <a:rPr lang="en-US" sz="1600" dirty="0">
                <a:solidFill>
                  <a:srgbClr val="6B7A8D"/>
                </a:solidFill>
                <a:latin typeface="Calibri" pitchFamily="34" charset="0"/>
                <a:ea typeface="Calibri" pitchFamily="34" charset="-122"/>
                <a:cs typeface="Calibri" pitchFamily="34" charset="-120"/>
              </a:rPr>
              <a:t>Automated quantification of PrP deposition in histological brain images</a:t>
            </a:r>
            <a:endParaRPr lang="en-US" sz="1600" dirty="0"/>
          </a:p>
        </p:txBody>
      </p:sp>
      <p:sp>
        <p:nvSpPr>
          <p:cNvPr id="7" name="Text 5"/>
          <p:cNvSpPr/>
          <p:nvPr/>
        </p:nvSpPr>
        <p:spPr>
          <a:xfrm>
            <a:off x="784459" y="3680460"/>
            <a:ext cx="4572000" cy="320040"/>
          </a:xfrm>
          <a:prstGeom prst="rect">
            <a:avLst/>
          </a:prstGeom>
          <a:noFill/>
          <a:ln/>
        </p:spPr>
        <p:txBody>
          <a:bodyPr wrap="square" lIns="0" tIns="0" rIns="0" bIns="0" rtlCol="0" anchor="ctr"/>
          <a:lstStyle/>
          <a:p>
            <a:pPr marL="0" indent="0" algn="l">
              <a:buNone/>
            </a:pPr>
            <a:r>
              <a:rPr lang="en-US" sz="1200" dirty="0">
                <a:solidFill>
                  <a:srgbClr val="6B7A8D"/>
                </a:solidFill>
                <a:latin typeface="Calibri" pitchFamily="34" charset="0"/>
                <a:ea typeface="Calibri" pitchFamily="34" charset="-122"/>
                <a:cs typeface="Calibri" pitchFamily="34" charset="-120"/>
              </a:rPr>
              <a:t>Team Hacking into the Brainframe</a:t>
            </a:r>
            <a:endParaRPr lang="en-US" sz="1200" dirty="0"/>
          </a:p>
        </p:txBody>
      </p:sp>
      <p:sp>
        <p:nvSpPr>
          <p:cNvPr id="8" name="Text 6"/>
          <p:cNvSpPr/>
          <p:nvPr/>
        </p:nvSpPr>
        <p:spPr>
          <a:xfrm>
            <a:off x="784459" y="3909060"/>
            <a:ext cx="4572000" cy="274320"/>
          </a:xfrm>
          <a:prstGeom prst="rect">
            <a:avLst/>
          </a:prstGeom>
          <a:noFill/>
          <a:ln/>
        </p:spPr>
        <p:txBody>
          <a:bodyPr wrap="square" lIns="0" tIns="0" rIns="0" bIns="0" rtlCol="0" anchor="ctr"/>
          <a:lstStyle/>
          <a:p>
            <a:pPr marL="0" indent="0" algn="l">
              <a:buNone/>
            </a:pPr>
            <a:r>
              <a:rPr lang="en-US" sz="1100" dirty="0">
                <a:solidFill>
                  <a:schemeClr val="accent1">
                    <a:lumMod val="75000"/>
                  </a:schemeClr>
                </a:solidFill>
                <a:latin typeface="Calibri" pitchFamily="34" charset="0"/>
                <a:ea typeface="Calibri" pitchFamily="34" charset="-122"/>
                <a:cs typeface="Calibri" pitchFamily="34" charset="-120"/>
              </a:rPr>
              <a:t>qCMB Hackathon  ·  June 2026</a:t>
            </a:r>
            <a:endParaRPr lang="en-US" sz="1100" dirty="0">
              <a:solidFill>
                <a:schemeClr val="accent1">
                  <a:lumMod val="75000"/>
                </a:schemeClr>
              </a:solidFill>
            </a:endParaRPr>
          </a:p>
        </p:txBody>
      </p:sp>
      <p:sp>
        <p:nvSpPr>
          <p:cNvPr id="9" name="Shape 7"/>
          <p:cNvSpPr/>
          <p:nvPr/>
        </p:nvSpPr>
        <p:spPr>
          <a:xfrm>
            <a:off x="6949440" y="274320"/>
            <a:ext cx="1005840" cy="1005840"/>
          </a:xfrm>
          <a:prstGeom prst="ellipse">
            <a:avLst/>
          </a:prstGeom>
          <a:solidFill>
            <a:srgbClr val="2E6DA4">
              <a:alpha val="45000"/>
            </a:srgbClr>
          </a:solidFill>
          <a:ln w="6350">
            <a:solidFill>
              <a:srgbClr val="2E6DA4"/>
            </a:solidFill>
            <a:prstDash val="solid"/>
          </a:ln>
        </p:spPr>
        <p:txBody>
          <a:bodyPr/>
          <a:lstStyle/>
          <a:p>
            <a:endParaRPr lang="en-US"/>
          </a:p>
        </p:txBody>
      </p:sp>
      <p:sp>
        <p:nvSpPr>
          <p:cNvPr id="10" name="Shape 8"/>
          <p:cNvSpPr/>
          <p:nvPr/>
        </p:nvSpPr>
        <p:spPr>
          <a:xfrm>
            <a:off x="7635240" y="91440"/>
            <a:ext cx="694944" cy="694944"/>
          </a:xfrm>
          <a:prstGeom prst="ellipse">
            <a:avLst/>
          </a:prstGeom>
          <a:solidFill>
            <a:srgbClr val="EDF2FA">
              <a:alpha val="45000"/>
            </a:srgbClr>
          </a:solidFill>
          <a:ln w="6350">
            <a:solidFill>
              <a:srgbClr val="EDF2FA"/>
            </a:solidFill>
            <a:prstDash val="solid"/>
          </a:ln>
        </p:spPr>
        <p:txBody>
          <a:bodyPr/>
          <a:lstStyle/>
          <a:p>
            <a:endParaRPr lang="en-US"/>
          </a:p>
        </p:txBody>
      </p:sp>
      <p:sp>
        <p:nvSpPr>
          <p:cNvPr id="11" name="Shape 9"/>
          <p:cNvSpPr/>
          <p:nvPr/>
        </p:nvSpPr>
        <p:spPr>
          <a:xfrm>
            <a:off x="8183880" y="411480"/>
            <a:ext cx="512064" cy="512064"/>
          </a:xfrm>
          <a:prstGeom prst="ellipse">
            <a:avLst/>
          </a:prstGeom>
          <a:solidFill>
            <a:srgbClr val="D4892A">
              <a:alpha val="45000"/>
            </a:srgbClr>
          </a:solidFill>
          <a:ln w="6350">
            <a:solidFill>
              <a:srgbClr val="D4892A"/>
            </a:solidFill>
            <a:prstDash val="solid"/>
          </a:ln>
        </p:spPr>
        <p:txBody>
          <a:bodyPr/>
          <a:lstStyle/>
          <a:p>
            <a:endParaRPr lang="en-US"/>
          </a:p>
        </p:txBody>
      </p:sp>
    </p:spTree>
    <p:extLst>
      <p:ext uri="{BB962C8B-B14F-4D97-AF65-F5344CB8AC3E}">
        <p14:creationId xmlns:p14="http://schemas.microsoft.com/office/powerpoint/2010/main" val="2005588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38155" y="292608"/>
            <a:ext cx="8229600" cy="502920"/>
          </a:xfrm>
          <a:prstGeom prst="rect">
            <a:avLst/>
          </a:prstGeom>
          <a:noFill/>
          <a:ln/>
        </p:spPr>
        <p:txBody>
          <a:bodyPr wrap="square" lIns="0" tIns="0" rIns="0" bIns="0" rtlCol="0" anchor="ctr"/>
          <a:lstStyle/>
          <a:p>
            <a:pPr marL="0" indent="0" algn="l">
              <a:buNone/>
            </a:pPr>
            <a:r>
              <a:rPr lang="en-US" sz="3000" b="1" dirty="0">
                <a:solidFill>
                  <a:srgbClr val="1A2A4A"/>
                </a:solidFill>
                <a:latin typeface="Cambria" pitchFamily="34" charset="0"/>
                <a:ea typeface="Cambria" pitchFamily="34" charset="-122"/>
                <a:cs typeface="Cambria" pitchFamily="34" charset="-120"/>
              </a:rPr>
              <a:t>The Problem</a:t>
            </a:r>
            <a:endParaRPr lang="en-US" sz="3000" dirty="0"/>
          </a:p>
        </p:txBody>
      </p:sp>
      <p:sp>
        <p:nvSpPr>
          <p:cNvPr id="3" name="Shape 1"/>
          <p:cNvSpPr/>
          <p:nvPr/>
        </p:nvSpPr>
        <p:spPr>
          <a:xfrm>
            <a:off x="784459" y="795528"/>
            <a:ext cx="8229600" cy="18288"/>
          </a:xfrm>
          <a:prstGeom prst="ellipse">
            <a:avLst/>
          </a:prstGeom>
          <a:solidFill>
            <a:srgbClr val="EDF2FA"/>
          </a:solidFill>
          <a:ln w="12700">
            <a:solidFill>
              <a:srgbClr val="EDF2FA"/>
            </a:solidFill>
            <a:prstDash val="solid"/>
          </a:ln>
        </p:spPr>
        <p:txBody>
          <a:bodyPr/>
          <a:lstStyle/>
          <a:p>
            <a:endParaRPr lang="en-US"/>
          </a:p>
        </p:txBody>
      </p:sp>
      <p:sp>
        <p:nvSpPr>
          <p:cNvPr id="4" name="Shape 2"/>
          <p:cNvSpPr/>
          <p:nvPr/>
        </p:nvSpPr>
        <p:spPr>
          <a:xfrm>
            <a:off x="693019" y="941832"/>
            <a:ext cx="2606040" cy="3291840"/>
          </a:xfrm>
          <a:prstGeom prst="roundRect">
            <a:avLst>
              <a:gd name="adj" fmla="val 2807"/>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5" name="Shape 3"/>
          <p:cNvSpPr/>
          <p:nvPr/>
        </p:nvSpPr>
        <p:spPr>
          <a:xfrm>
            <a:off x="1607419" y="1033272"/>
            <a:ext cx="777240" cy="411480"/>
          </a:xfrm>
          <a:prstGeom prst="roundRect">
            <a:avLst>
              <a:gd name="adj" fmla="val 26667"/>
            </a:avLst>
          </a:prstGeom>
          <a:solidFill>
            <a:srgbClr val="2E6DA4"/>
          </a:solidFill>
          <a:ln w="12700">
            <a:solidFill>
              <a:srgbClr val="2E6DA4"/>
            </a:solidFill>
            <a:prstDash val="solid"/>
          </a:ln>
        </p:spPr>
        <p:txBody>
          <a:bodyPr/>
          <a:lstStyle/>
          <a:p>
            <a:endParaRPr lang="en-US"/>
          </a:p>
        </p:txBody>
      </p:sp>
      <p:sp>
        <p:nvSpPr>
          <p:cNvPr id="6" name="Text 4"/>
          <p:cNvSpPr/>
          <p:nvPr/>
        </p:nvSpPr>
        <p:spPr>
          <a:xfrm>
            <a:off x="1607419" y="1024128"/>
            <a:ext cx="777240" cy="411480"/>
          </a:xfrm>
          <a:prstGeom prst="rect">
            <a:avLst/>
          </a:prstGeom>
          <a:noFill/>
          <a:ln/>
        </p:spPr>
        <p:txBody>
          <a:bodyPr wrap="square" lIns="0" tIns="0" rIns="0" bIns="0" rtlCol="0" anchor="ctr"/>
          <a:lstStyle/>
          <a:p>
            <a:pPr marL="0" indent="0" algn="ctr">
              <a:buNone/>
            </a:pPr>
            <a:r>
              <a:rPr lang="en-US" sz="1800" dirty="0"/>
              <a:t>1.</a:t>
            </a:r>
          </a:p>
        </p:txBody>
      </p:sp>
      <p:sp>
        <p:nvSpPr>
          <p:cNvPr id="7" name="Text 5"/>
          <p:cNvSpPr/>
          <p:nvPr/>
        </p:nvSpPr>
        <p:spPr>
          <a:xfrm>
            <a:off x="802747" y="1581912"/>
            <a:ext cx="2395728" cy="365760"/>
          </a:xfrm>
          <a:prstGeom prst="rect">
            <a:avLst/>
          </a:prstGeom>
          <a:noFill/>
          <a:ln/>
        </p:spPr>
        <p:txBody>
          <a:bodyPr wrap="square" lIns="0" tIns="0" rIns="0" bIns="0" rtlCol="0" anchor="ctr"/>
          <a:lstStyle/>
          <a:p>
            <a:pPr marL="0" indent="0" algn="ctr">
              <a:buNone/>
            </a:pPr>
            <a:r>
              <a:rPr lang="en-US" sz="1400" b="1" dirty="0">
                <a:solidFill>
                  <a:srgbClr val="1A2A4A"/>
                </a:solidFill>
                <a:latin typeface="Cambria" pitchFamily="34" charset="0"/>
                <a:ea typeface="Cambria" pitchFamily="34" charset="-122"/>
                <a:cs typeface="Cambria" pitchFamily="34" charset="-120"/>
              </a:rPr>
              <a:t>Qualitative Scoring</a:t>
            </a:r>
            <a:endParaRPr lang="en-US" sz="1400" dirty="0"/>
          </a:p>
        </p:txBody>
      </p:sp>
      <p:sp>
        <p:nvSpPr>
          <p:cNvPr id="8" name="Text 6"/>
          <p:cNvSpPr/>
          <p:nvPr/>
        </p:nvSpPr>
        <p:spPr>
          <a:xfrm>
            <a:off x="802747" y="2020824"/>
            <a:ext cx="2395728" cy="1920240"/>
          </a:xfrm>
          <a:prstGeom prst="rect">
            <a:avLst/>
          </a:prstGeom>
          <a:noFill/>
          <a:ln/>
        </p:spPr>
        <p:txBody>
          <a:bodyPr wrap="square" lIns="76200" tIns="76200" rIns="76200" bIns="76200" rtlCol="0" anchor="t"/>
          <a:lstStyle/>
          <a:p>
            <a:pPr marL="0" indent="0" algn="l">
              <a:buNone/>
            </a:pPr>
            <a:r>
              <a:rPr lang="en-US" sz="1200" dirty="0">
                <a:solidFill>
                  <a:srgbClr val="6B7A8D"/>
                </a:solidFill>
                <a:latin typeface="Calibri" pitchFamily="34" charset="0"/>
              </a:rPr>
              <a:t>Subjective scoring — variable between reviewers</a:t>
            </a:r>
          </a:p>
        </p:txBody>
      </p:sp>
      <p:sp>
        <p:nvSpPr>
          <p:cNvPr id="9" name="Shape 7"/>
          <p:cNvSpPr/>
          <p:nvPr/>
        </p:nvSpPr>
        <p:spPr>
          <a:xfrm>
            <a:off x="3527659" y="941832"/>
            <a:ext cx="2606040" cy="3291840"/>
          </a:xfrm>
          <a:prstGeom prst="roundRect">
            <a:avLst>
              <a:gd name="adj" fmla="val 2807"/>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10" name="Shape 8"/>
          <p:cNvSpPr/>
          <p:nvPr/>
        </p:nvSpPr>
        <p:spPr>
          <a:xfrm>
            <a:off x="4442059" y="1033272"/>
            <a:ext cx="777240" cy="411480"/>
          </a:xfrm>
          <a:prstGeom prst="roundRect">
            <a:avLst>
              <a:gd name="adj" fmla="val 26667"/>
            </a:avLst>
          </a:prstGeom>
          <a:solidFill>
            <a:srgbClr val="2E6DA4"/>
          </a:solidFill>
          <a:ln w="12700">
            <a:solidFill>
              <a:srgbClr val="2E6DA4"/>
            </a:solidFill>
            <a:prstDash val="solid"/>
          </a:ln>
        </p:spPr>
        <p:txBody>
          <a:bodyPr/>
          <a:lstStyle/>
          <a:p>
            <a:endParaRPr lang="en-US"/>
          </a:p>
        </p:txBody>
      </p:sp>
      <p:sp>
        <p:nvSpPr>
          <p:cNvPr id="11" name="Text 9"/>
          <p:cNvSpPr/>
          <p:nvPr/>
        </p:nvSpPr>
        <p:spPr>
          <a:xfrm>
            <a:off x="4442059" y="1024128"/>
            <a:ext cx="777240" cy="411480"/>
          </a:xfrm>
          <a:prstGeom prst="rect">
            <a:avLst/>
          </a:prstGeom>
          <a:noFill/>
          <a:ln/>
        </p:spPr>
        <p:txBody>
          <a:bodyPr wrap="square" lIns="0" tIns="0" rIns="0" bIns="0" rtlCol="0" anchor="ctr"/>
          <a:lstStyle/>
          <a:p>
            <a:pPr marL="0" indent="0" algn="ctr">
              <a:buNone/>
            </a:pPr>
            <a:r>
              <a:rPr lang="en-US" dirty="0">
                <a:solidFill>
                  <a:srgbClr val="1A2A4A"/>
                </a:solidFill>
              </a:rPr>
              <a:t>2.</a:t>
            </a:r>
            <a:endParaRPr lang="en-US" sz="1800" dirty="0"/>
          </a:p>
        </p:txBody>
      </p:sp>
      <p:sp>
        <p:nvSpPr>
          <p:cNvPr id="12" name="Text 10"/>
          <p:cNvSpPr/>
          <p:nvPr/>
        </p:nvSpPr>
        <p:spPr>
          <a:xfrm>
            <a:off x="3637387" y="1581912"/>
            <a:ext cx="2395728" cy="365760"/>
          </a:xfrm>
          <a:prstGeom prst="rect">
            <a:avLst/>
          </a:prstGeom>
          <a:noFill/>
          <a:ln/>
        </p:spPr>
        <p:txBody>
          <a:bodyPr wrap="square" lIns="0" tIns="0" rIns="0" bIns="0" rtlCol="0" anchor="ctr"/>
          <a:lstStyle/>
          <a:p>
            <a:pPr marL="0" indent="0" algn="ctr">
              <a:buNone/>
            </a:pPr>
            <a:r>
              <a:rPr lang="en-US" sz="1400" b="1" dirty="0">
                <a:solidFill>
                  <a:srgbClr val="1A2A4A"/>
                </a:solidFill>
                <a:latin typeface="Cambria" pitchFamily="34" charset="0"/>
                <a:ea typeface="Cambria" pitchFamily="34" charset="-122"/>
                <a:cs typeface="Cambria" pitchFamily="34" charset="-120"/>
              </a:rPr>
              <a:t>Low Throughput</a:t>
            </a:r>
            <a:endParaRPr lang="en-US" sz="1400" dirty="0"/>
          </a:p>
        </p:txBody>
      </p:sp>
      <p:sp>
        <p:nvSpPr>
          <p:cNvPr id="13" name="Text 11"/>
          <p:cNvSpPr/>
          <p:nvPr/>
        </p:nvSpPr>
        <p:spPr>
          <a:xfrm>
            <a:off x="3637387" y="2020824"/>
            <a:ext cx="2395728" cy="1920240"/>
          </a:xfrm>
          <a:prstGeom prst="rect">
            <a:avLst/>
          </a:prstGeom>
          <a:noFill/>
          <a:ln/>
        </p:spPr>
        <p:txBody>
          <a:bodyPr wrap="square" lIns="76200" tIns="76200" rIns="76200" bIns="76200" rtlCol="0" anchor="t"/>
          <a:lstStyle/>
          <a:p>
            <a:pPr marL="0" indent="0" algn="l">
              <a:buNone/>
            </a:pPr>
            <a:r>
              <a:rPr lang="en-US" sz="1200" dirty="0">
                <a:solidFill>
                  <a:srgbClr val="6B7A8D"/>
                </a:solidFill>
                <a:latin typeface="Calibri" pitchFamily="34" charset="0"/>
              </a:rPr>
              <a:t>Too slow for population-scale studies</a:t>
            </a:r>
          </a:p>
        </p:txBody>
      </p:sp>
      <p:sp>
        <p:nvSpPr>
          <p:cNvPr id="14" name="Shape 12"/>
          <p:cNvSpPr/>
          <p:nvPr/>
        </p:nvSpPr>
        <p:spPr>
          <a:xfrm>
            <a:off x="6362299" y="941832"/>
            <a:ext cx="2606040" cy="3291840"/>
          </a:xfrm>
          <a:prstGeom prst="roundRect">
            <a:avLst>
              <a:gd name="adj" fmla="val 2807"/>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15" name="Shape 13"/>
          <p:cNvSpPr/>
          <p:nvPr/>
        </p:nvSpPr>
        <p:spPr>
          <a:xfrm>
            <a:off x="7276699" y="1033272"/>
            <a:ext cx="777240" cy="411480"/>
          </a:xfrm>
          <a:prstGeom prst="roundRect">
            <a:avLst>
              <a:gd name="adj" fmla="val 26667"/>
            </a:avLst>
          </a:prstGeom>
          <a:solidFill>
            <a:srgbClr val="2E6DA4"/>
          </a:solidFill>
          <a:ln w="12700">
            <a:solidFill>
              <a:srgbClr val="2E6DA4"/>
            </a:solidFill>
            <a:prstDash val="solid"/>
          </a:ln>
        </p:spPr>
        <p:txBody>
          <a:bodyPr/>
          <a:lstStyle/>
          <a:p>
            <a:endParaRPr lang="en-US"/>
          </a:p>
        </p:txBody>
      </p:sp>
      <p:sp>
        <p:nvSpPr>
          <p:cNvPr id="16" name="Text 14"/>
          <p:cNvSpPr/>
          <p:nvPr/>
        </p:nvSpPr>
        <p:spPr>
          <a:xfrm>
            <a:off x="7276699" y="1024128"/>
            <a:ext cx="777240" cy="411480"/>
          </a:xfrm>
          <a:prstGeom prst="rect">
            <a:avLst/>
          </a:prstGeom>
          <a:noFill/>
          <a:ln/>
        </p:spPr>
        <p:txBody>
          <a:bodyPr wrap="square" lIns="0" tIns="0" rIns="0" bIns="0" rtlCol="0" anchor="ctr"/>
          <a:lstStyle/>
          <a:p>
            <a:pPr marL="0" indent="0" algn="ctr">
              <a:buNone/>
            </a:pPr>
            <a:r>
              <a:rPr lang="en-US" sz="1800" dirty="0"/>
              <a:t>3.</a:t>
            </a:r>
          </a:p>
        </p:txBody>
      </p:sp>
      <p:sp>
        <p:nvSpPr>
          <p:cNvPr id="17" name="Text 15"/>
          <p:cNvSpPr/>
          <p:nvPr/>
        </p:nvSpPr>
        <p:spPr>
          <a:xfrm>
            <a:off x="6472027" y="1581912"/>
            <a:ext cx="2395728" cy="365760"/>
          </a:xfrm>
          <a:prstGeom prst="rect">
            <a:avLst/>
          </a:prstGeom>
          <a:noFill/>
          <a:ln/>
        </p:spPr>
        <p:txBody>
          <a:bodyPr wrap="square" lIns="0" tIns="0" rIns="0" bIns="0" rtlCol="0" anchor="ctr"/>
          <a:lstStyle/>
          <a:p>
            <a:pPr marL="0" indent="0" algn="ctr">
              <a:buNone/>
            </a:pPr>
            <a:r>
              <a:rPr lang="en-US" sz="1400" b="1" dirty="0">
                <a:solidFill>
                  <a:srgbClr val="1A2A4A"/>
                </a:solidFill>
                <a:latin typeface="Cambria" pitchFamily="34" charset="0"/>
                <a:ea typeface="Cambria" pitchFamily="34" charset="-122"/>
                <a:cs typeface="Cambria" pitchFamily="34" charset="-120"/>
              </a:rPr>
              <a:t>No Spatial Context</a:t>
            </a:r>
            <a:endParaRPr lang="en-US" sz="1400" dirty="0"/>
          </a:p>
        </p:txBody>
      </p:sp>
      <p:sp>
        <p:nvSpPr>
          <p:cNvPr id="18" name="Text 16"/>
          <p:cNvSpPr/>
          <p:nvPr/>
        </p:nvSpPr>
        <p:spPr>
          <a:xfrm>
            <a:off x="6472027" y="2020824"/>
            <a:ext cx="2395728" cy="1920240"/>
          </a:xfrm>
          <a:prstGeom prst="rect">
            <a:avLst/>
          </a:prstGeom>
          <a:noFill/>
          <a:ln/>
        </p:spPr>
        <p:txBody>
          <a:bodyPr wrap="square" lIns="76200" tIns="76200" rIns="76200" bIns="76200" rtlCol="0" anchor="t"/>
          <a:lstStyle/>
          <a:p>
            <a:pPr marL="0" indent="0" algn="l">
              <a:buNone/>
            </a:pPr>
            <a:r>
              <a:rPr lang="en-US" sz="1200" dirty="0">
                <a:solidFill>
                  <a:srgbClr val="6B7A8D"/>
                </a:solidFill>
                <a:latin typeface="Calibri" pitchFamily="34" charset="0"/>
              </a:rPr>
              <a:t>Misses regional distribution patterns</a:t>
            </a:r>
          </a:p>
        </p:txBody>
      </p:sp>
      <p:sp>
        <p:nvSpPr>
          <p:cNvPr id="19" name="Shape 17"/>
          <p:cNvSpPr/>
          <p:nvPr/>
        </p:nvSpPr>
        <p:spPr>
          <a:xfrm>
            <a:off x="693019" y="4416552"/>
            <a:ext cx="8412480" cy="475488"/>
          </a:xfrm>
          <a:prstGeom prst="roundRect">
            <a:avLst>
              <a:gd name="adj" fmla="val 15385"/>
            </a:avLst>
          </a:prstGeom>
          <a:solidFill>
            <a:srgbClr val="2E6DA4"/>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20" name="Text 18"/>
          <p:cNvSpPr/>
          <p:nvPr/>
        </p:nvSpPr>
        <p:spPr>
          <a:xfrm>
            <a:off x="365760" y="4434840"/>
            <a:ext cx="8412480" cy="475488"/>
          </a:xfrm>
          <a:prstGeom prst="rect">
            <a:avLst/>
          </a:prstGeom>
          <a:noFill/>
          <a:ln/>
        </p:spPr>
        <p:txBody>
          <a:bodyPr wrap="square" lIns="0" tIns="0" rIns="0" bIns="0" rtlCol="0" anchor="ctr"/>
          <a:lstStyle/>
          <a:p>
            <a:pPr marL="0" indent="0" algn="ctr">
              <a:buNone/>
            </a:pPr>
            <a:r>
              <a:rPr lang="en-US" sz="1300" b="1" dirty="0">
                <a:solidFill>
                  <a:srgbClr val="1A2A4A"/>
                </a:solidFill>
                <a:latin typeface="Calibri" pitchFamily="34" charset="0"/>
                <a:ea typeface="Calibri" pitchFamily="34" charset="-122"/>
                <a:cs typeface="Calibri" pitchFamily="34" charset="-120"/>
              </a:rPr>
              <a:t>Goal: Scalable, objective, reproducible quantification of PrP deposition across brain regions</a:t>
            </a:r>
            <a:endParaRPr lang="en-US" sz="1300" dirty="0"/>
          </a:p>
        </p:txBody>
      </p:sp>
    </p:spTree>
    <p:extLst>
      <p:ext uri="{BB962C8B-B14F-4D97-AF65-F5344CB8AC3E}">
        <p14:creationId xmlns:p14="http://schemas.microsoft.com/office/powerpoint/2010/main" val="1525008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66550" y="274320"/>
            <a:ext cx="8229600" cy="502920"/>
          </a:xfrm>
          <a:prstGeom prst="rect">
            <a:avLst/>
          </a:prstGeom>
          <a:noFill/>
          <a:ln/>
        </p:spPr>
        <p:txBody>
          <a:bodyPr wrap="square" lIns="0" tIns="0" rIns="0" bIns="0" rtlCol="0" anchor="ctr"/>
          <a:lstStyle/>
          <a:p>
            <a:pPr marL="0" indent="0" algn="l">
              <a:buNone/>
            </a:pPr>
            <a:r>
              <a:rPr lang="en-US" sz="3000" b="1" dirty="0">
                <a:solidFill>
                  <a:srgbClr val="1A2A4A"/>
                </a:solidFill>
                <a:latin typeface="Cambria" pitchFamily="34" charset="0"/>
                <a:ea typeface="Cambria" pitchFamily="34" charset="-122"/>
                <a:cs typeface="Cambria" pitchFamily="34" charset="-120"/>
              </a:rPr>
              <a:t>Our Approach</a:t>
            </a:r>
            <a:endParaRPr lang="en-US" sz="3000" dirty="0"/>
          </a:p>
        </p:txBody>
      </p:sp>
      <p:sp>
        <p:nvSpPr>
          <p:cNvPr id="3" name="Shape 1"/>
          <p:cNvSpPr/>
          <p:nvPr/>
        </p:nvSpPr>
        <p:spPr>
          <a:xfrm>
            <a:off x="803710" y="825246"/>
            <a:ext cx="8229600" cy="18288"/>
          </a:xfrm>
          <a:prstGeom prst="ellipse">
            <a:avLst/>
          </a:prstGeom>
          <a:solidFill>
            <a:srgbClr val="EDF2FA"/>
          </a:solidFill>
          <a:ln w="12700">
            <a:solidFill>
              <a:srgbClr val="EDF2FA"/>
            </a:solidFill>
            <a:prstDash val="solid"/>
          </a:ln>
        </p:spPr>
        <p:txBody>
          <a:bodyPr/>
          <a:lstStyle/>
          <a:p>
            <a:endParaRPr lang="en-US"/>
          </a:p>
        </p:txBody>
      </p:sp>
      <p:sp>
        <p:nvSpPr>
          <p:cNvPr id="4" name="Shape 2"/>
          <p:cNvSpPr/>
          <p:nvPr/>
        </p:nvSpPr>
        <p:spPr>
          <a:xfrm>
            <a:off x="666550" y="971550"/>
            <a:ext cx="1463040" cy="3200400"/>
          </a:xfrm>
          <a:prstGeom prst="roundRect">
            <a:avLst>
              <a:gd name="adj" fmla="val 5000"/>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5" name="Shape 3"/>
          <p:cNvSpPr/>
          <p:nvPr/>
        </p:nvSpPr>
        <p:spPr>
          <a:xfrm>
            <a:off x="1014022" y="1081278"/>
            <a:ext cx="768096" cy="502920"/>
          </a:xfrm>
          <a:prstGeom prst="ellipse">
            <a:avLst/>
          </a:prstGeom>
          <a:solidFill>
            <a:srgbClr val="EDF2FA"/>
          </a:solidFill>
          <a:ln w="12700">
            <a:solidFill>
              <a:srgbClr val="EDF2FA"/>
            </a:solidFill>
            <a:prstDash val="solid"/>
          </a:ln>
        </p:spPr>
        <p:txBody>
          <a:bodyPr/>
          <a:lstStyle/>
          <a:p>
            <a:endParaRPr lang="en-US"/>
          </a:p>
        </p:txBody>
      </p:sp>
      <p:sp>
        <p:nvSpPr>
          <p:cNvPr id="6" name="Text 4"/>
          <p:cNvSpPr/>
          <p:nvPr/>
        </p:nvSpPr>
        <p:spPr>
          <a:xfrm>
            <a:off x="1014022" y="1081278"/>
            <a:ext cx="768096"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01</a:t>
            </a:r>
            <a:endParaRPr lang="en-US" sz="1500" dirty="0"/>
          </a:p>
        </p:txBody>
      </p:sp>
      <p:sp>
        <p:nvSpPr>
          <p:cNvPr id="7" name="Text 5"/>
          <p:cNvSpPr/>
          <p:nvPr/>
        </p:nvSpPr>
        <p:spPr>
          <a:xfrm>
            <a:off x="712270" y="1684782"/>
            <a:ext cx="1371600" cy="411480"/>
          </a:xfrm>
          <a:prstGeom prst="rect">
            <a:avLst/>
          </a:prstGeom>
          <a:noFill/>
          <a:ln/>
        </p:spPr>
        <p:txBody>
          <a:bodyPr wrap="square" lIns="0" tIns="0" rIns="0" bIns="0" rtlCol="0" anchor="ctr"/>
          <a:lstStyle/>
          <a:p>
            <a:pPr marL="0" indent="0" algn="ctr">
              <a:buNone/>
            </a:pPr>
            <a:r>
              <a:rPr lang="en-US" sz="1200" b="1" dirty="0">
                <a:solidFill>
                  <a:srgbClr val="1A2A4A"/>
                </a:solidFill>
                <a:latin typeface="Cambria" pitchFamily="34" charset="0"/>
                <a:ea typeface="Cambria" pitchFamily="34" charset="-122"/>
                <a:cs typeface="Cambria" pitchFamily="34" charset="-120"/>
              </a:rPr>
              <a:t>Raw Images</a:t>
            </a:r>
            <a:endParaRPr lang="en-US" sz="1200" dirty="0"/>
          </a:p>
        </p:txBody>
      </p:sp>
      <p:sp>
        <p:nvSpPr>
          <p:cNvPr id="8" name="Text 6"/>
          <p:cNvSpPr/>
          <p:nvPr/>
        </p:nvSpPr>
        <p:spPr>
          <a:xfrm>
            <a:off x="712270" y="2178558"/>
            <a:ext cx="1371600" cy="1645920"/>
          </a:xfrm>
          <a:prstGeom prst="rect">
            <a:avLst/>
          </a:prstGeom>
          <a:noFill/>
          <a:ln/>
        </p:spPr>
        <p:txBody>
          <a:bodyPr wrap="square" lIns="50800" tIns="50800" rIns="50800" bIns="50800" rtlCol="0" anchor="t"/>
          <a:lstStyle/>
          <a:p>
            <a:pPr marL="0" indent="0" algn="ctr">
              <a:buNone/>
            </a:pPr>
            <a:r>
              <a:rPr lang="en-US" sz="1000" dirty="0">
                <a:solidFill>
                  <a:srgbClr val="6B7A8D"/>
                </a:solidFill>
                <a:latin typeface="Calibri" pitchFamily="34" charset="0"/>
                <a:ea typeface="Calibri" pitchFamily="34" charset="-122"/>
                <a:cs typeface="Calibri" pitchFamily="34" charset="-120"/>
              </a:rPr>
              <a:t>.tif histological</a:t>
            </a:r>
            <a:endParaRPr lang="en-US" sz="1000" dirty="0"/>
          </a:p>
          <a:p>
            <a:pPr marL="0" indent="0" algn="ctr">
              <a:buNone/>
            </a:pPr>
            <a:r>
              <a:rPr lang="en-US" sz="1000" dirty="0">
                <a:solidFill>
                  <a:srgbClr val="6B7A8D"/>
                </a:solidFill>
                <a:latin typeface="Calibri" pitchFamily="34" charset="0"/>
                <a:ea typeface="Calibri" pitchFamily="34" charset="-122"/>
                <a:cs typeface="Calibri" pitchFamily="34" charset="-120"/>
              </a:rPr>
              <a:t>brain sections</a:t>
            </a:r>
            <a:endParaRPr lang="en-US" sz="1000" dirty="0"/>
          </a:p>
        </p:txBody>
      </p:sp>
      <p:sp>
        <p:nvSpPr>
          <p:cNvPr id="9" name="Shape 7"/>
          <p:cNvSpPr/>
          <p:nvPr/>
        </p:nvSpPr>
        <p:spPr>
          <a:xfrm>
            <a:off x="2147878" y="2580894"/>
            <a:ext cx="201168" cy="0"/>
          </a:xfrm>
          <a:prstGeom prst="line">
            <a:avLst/>
          </a:prstGeom>
          <a:noFill/>
          <a:ln w="25400">
            <a:solidFill>
              <a:srgbClr val="D4892A"/>
            </a:solidFill>
            <a:prstDash val="solid"/>
          </a:ln>
        </p:spPr>
        <p:txBody>
          <a:bodyPr/>
          <a:lstStyle/>
          <a:p>
            <a:endParaRPr lang="en-US"/>
          </a:p>
        </p:txBody>
      </p:sp>
      <p:sp>
        <p:nvSpPr>
          <p:cNvPr id="10" name="Shape 8"/>
          <p:cNvSpPr/>
          <p:nvPr/>
        </p:nvSpPr>
        <p:spPr>
          <a:xfrm>
            <a:off x="2376478" y="971550"/>
            <a:ext cx="1463040" cy="3200400"/>
          </a:xfrm>
          <a:prstGeom prst="roundRect">
            <a:avLst>
              <a:gd name="adj" fmla="val 5000"/>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11" name="Shape 9"/>
          <p:cNvSpPr/>
          <p:nvPr/>
        </p:nvSpPr>
        <p:spPr>
          <a:xfrm>
            <a:off x="2723950" y="1081278"/>
            <a:ext cx="768096" cy="502920"/>
          </a:xfrm>
          <a:prstGeom prst="ellipse">
            <a:avLst/>
          </a:prstGeom>
          <a:solidFill>
            <a:srgbClr val="2E6DA4"/>
          </a:solidFill>
          <a:ln w="12700">
            <a:solidFill>
              <a:srgbClr val="2E6DA4"/>
            </a:solidFill>
            <a:prstDash val="solid"/>
          </a:ln>
        </p:spPr>
        <p:txBody>
          <a:bodyPr/>
          <a:lstStyle/>
          <a:p>
            <a:endParaRPr lang="en-US"/>
          </a:p>
        </p:txBody>
      </p:sp>
      <p:sp>
        <p:nvSpPr>
          <p:cNvPr id="12" name="Text 10"/>
          <p:cNvSpPr/>
          <p:nvPr/>
        </p:nvSpPr>
        <p:spPr>
          <a:xfrm>
            <a:off x="2723950" y="1081278"/>
            <a:ext cx="768096"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02</a:t>
            </a:r>
            <a:endParaRPr lang="en-US" sz="1500" dirty="0"/>
          </a:p>
        </p:txBody>
      </p:sp>
      <p:sp>
        <p:nvSpPr>
          <p:cNvPr id="13" name="Text 11"/>
          <p:cNvSpPr/>
          <p:nvPr/>
        </p:nvSpPr>
        <p:spPr>
          <a:xfrm>
            <a:off x="2422198" y="1684782"/>
            <a:ext cx="1371600" cy="411480"/>
          </a:xfrm>
          <a:prstGeom prst="rect">
            <a:avLst/>
          </a:prstGeom>
          <a:noFill/>
          <a:ln/>
        </p:spPr>
        <p:txBody>
          <a:bodyPr wrap="square" lIns="0" tIns="0" rIns="0" bIns="0" rtlCol="0" anchor="ctr"/>
          <a:lstStyle/>
          <a:p>
            <a:pPr marL="0" indent="0" algn="ctr">
              <a:buNone/>
            </a:pPr>
            <a:r>
              <a:rPr lang="en-US" sz="1200" b="1" dirty="0">
                <a:solidFill>
                  <a:srgbClr val="1A2A4A"/>
                </a:solidFill>
                <a:latin typeface="Cambria" pitchFamily="34" charset="0"/>
                <a:ea typeface="Cambria" pitchFamily="34" charset="-122"/>
                <a:cs typeface="Cambria" pitchFamily="34" charset="-120"/>
              </a:rPr>
              <a:t>Ilastik</a:t>
            </a:r>
            <a:endParaRPr lang="en-US" sz="1200" dirty="0"/>
          </a:p>
        </p:txBody>
      </p:sp>
      <p:sp>
        <p:nvSpPr>
          <p:cNvPr id="14" name="Text 12"/>
          <p:cNvSpPr/>
          <p:nvPr/>
        </p:nvSpPr>
        <p:spPr>
          <a:xfrm>
            <a:off x="2422198" y="2178558"/>
            <a:ext cx="1371600" cy="1645920"/>
          </a:xfrm>
          <a:prstGeom prst="rect">
            <a:avLst/>
          </a:prstGeom>
          <a:noFill/>
          <a:ln/>
        </p:spPr>
        <p:txBody>
          <a:bodyPr wrap="square" lIns="50800" tIns="50800" rIns="50800" bIns="50800" rtlCol="0" anchor="t"/>
          <a:lstStyle/>
          <a:p>
            <a:pPr marL="0" indent="0" algn="ctr">
              <a:buNone/>
            </a:pPr>
            <a:r>
              <a:rPr lang="en-US" sz="1000" dirty="0">
                <a:solidFill>
                  <a:srgbClr val="6B7A8D"/>
                </a:solidFill>
                <a:latin typeface="Calibri" pitchFamily="34" charset="0"/>
                <a:ea typeface="Calibri" pitchFamily="34" charset="-122"/>
                <a:cs typeface="Calibri" pitchFamily="34" charset="-120"/>
              </a:rPr>
              <a:t>ML pixel</a:t>
            </a:r>
            <a:endParaRPr lang="en-US" sz="1000" dirty="0"/>
          </a:p>
          <a:p>
            <a:pPr marL="0" indent="0" algn="ctr">
              <a:buNone/>
            </a:pPr>
            <a:r>
              <a:rPr lang="en-US" sz="1000" dirty="0">
                <a:solidFill>
                  <a:srgbClr val="6B7A8D"/>
                </a:solidFill>
                <a:latin typeface="Calibri" pitchFamily="34" charset="0"/>
                <a:ea typeface="Calibri" pitchFamily="34" charset="-122"/>
                <a:cs typeface="Calibri" pitchFamily="34" charset="-120"/>
              </a:rPr>
              <a:t>classification</a:t>
            </a:r>
            <a:endParaRPr lang="en-US" sz="1000" dirty="0"/>
          </a:p>
        </p:txBody>
      </p:sp>
      <p:sp>
        <p:nvSpPr>
          <p:cNvPr id="15" name="Shape 13"/>
          <p:cNvSpPr/>
          <p:nvPr/>
        </p:nvSpPr>
        <p:spPr>
          <a:xfrm>
            <a:off x="3857806" y="2580894"/>
            <a:ext cx="201168" cy="0"/>
          </a:xfrm>
          <a:prstGeom prst="line">
            <a:avLst/>
          </a:prstGeom>
          <a:noFill/>
          <a:ln w="25400">
            <a:solidFill>
              <a:srgbClr val="D4892A"/>
            </a:solidFill>
            <a:prstDash val="solid"/>
          </a:ln>
        </p:spPr>
        <p:txBody>
          <a:bodyPr/>
          <a:lstStyle/>
          <a:p>
            <a:endParaRPr lang="en-US"/>
          </a:p>
        </p:txBody>
      </p:sp>
      <p:sp>
        <p:nvSpPr>
          <p:cNvPr id="16" name="Shape 14"/>
          <p:cNvSpPr/>
          <p:nvPr/>
        </p:nvSpPr>
        <p:spPr>
          <a:xfrm>
            <a:off x="4086406" y="971550"/>
            <a:ext cx="1463040" cy="3200400"/>
          </a:xfrm>
          <a:prstGeom prst="roundRect">
            <a:avLst>
              <a:gd name="adj" fmla="val 5000"/>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17" name="Shape 15"/>
          <p:cNvSpPr/>
          <p:nvPr/>
        </p:nvSpPr>
        <p:spPr>
          <a:xfrm>
            <a:off x="4433878" y="1081278"/>
            <a:ext cx="768096" cy="502920"/>
          </a:xfrm>
          <a:prstGeom prst="ellipse">
            <a:avLst/>
          </a:prstGeom>
          <a:solidFill>
            <a:srgbClr val="EDF2FA"/>
          </a:solidFill>
          <a:ln w="12700">
            <a:solidFill>
              <a:srgbClr val="EDF2FA"/>
            </a:solidFill>
            <a:prstDash val="solid"/>
          </a:ln>
        </p:spPr>
        <p:txBody>
          <a:bodyPr/>
          <a:lstStyle/>
          <a:p>
            <a:endParaRPr lang="en-US"/>
          </a:p>
        </p:txBody>
      </p:sp>
      <p:sp>
        <p:nvSpPr>
          <p:cNvPr id="18" name="Text 16"/>
          <p:cNvSpPr/>
          <p:nvPr/>
        </p:nvSpPr>
        <p:spPr>
          <a:xfrm>
            <a:off x="4433878" y="1081278"/>
            <a:ext cx="768096"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03</a:t>
            </a:r>
            <a:endParaRPr lang="en-US" sz="1500" dirty="0"/>
          </a:p>
        </p:txBody>
      </p:sp>
      <p:sp>
        <p:nvSpPr>
          <p:cNvPr id="19" name="Text 17"/>
          <p:cNvSpPr/>
          <p:nvPr/>
        </p:nvSpPr>
        <p:spPr>
          <a:xfrm>
            <a:off x="4132126" y="1684782"/>
            <a:ext cx="1371600" cy="411480"/>
          </a:xfrm>
          <a:prstGeom prst="rect">
            <a:avLst/>
          </a:prstGeom>
          <a:noFill/>
          <a:ln/>
        </p:spPr>
        <p:txBody>
          <a:bodyPr wrap="square" lIns="0" tIns="0" rIns="0" bIns="0" rtlCol="0" anchor="ctr"/>
          <a:lstStyle/>
          <a:p>
            <a:pPr marL="0" indent="0" algn="ctr">
              <a:buNone/>
            </a:pPr>
            <a:r>
              <a:rPr lang="en-US" sz="1200" b="1" dirty="0">
                <a:solidFill>
                  <a:srgbClr val="1A2A4A"/>
                </a:solidFill>
                <a:latin typeface="Cambria" pitchFamily="34" charset="0"/>
                <a:ea typeface="Cambria" pitchFamily="34" charset="-122"/>
                <a:cs typeface="Cambria" pitchFamily="34" charset="-120"/>
              </a:rPr>
              <a:t>Seg. Masks</a:t>
            </a:r>
            <a:endParaRPr lang="en-US" sz="1200" dirty="0"/>
          </a:p>
        </p:txBody>
      </p:sp>
      <p:sp>
        <p:nvSpPr>
          <p:cNvPr id="20" name="Text 18"/>
          <p:cNvSpPr/>
          <p:nvPr/>
        </p:nvSpPr>
        <p:spPr>
          <a:xfrm>
            <a:off x="4132126" y="2178558"/>
            <a:ext cx="1371600" cy="1645920"/>
          </a:xfrm>
          <a:prstGeom prst="rect">
            <a:avLst/>
          </a:prstGeom>
          <a:noFill/>
          <a:ln/>
        </p:spPr>
        <p:txBody>
          <a:bodyPr wrap="square" lIns="50800" tIns="50800" rIns="50800" bIns="50800" rtlCol="0" anchor="t"/>
          <a:lstStyle/>
          <a:p>
            <a:pPr marL="0" indent="0" algn="ctr">
              <a:buNone/>
            </a:pPr>
            <a:r>
              <a:rPr lang="en-US" sz="1000" dirty="0">
                <a:solidFill>
                  <a:srgbClr val="6B7A8D"/>
                </a:solidFill>
                <a:latin typeface="Calibri" pitchFamily="34" charset="0"/>
                <a:ea typeface="Calibri" pitchFamily="34" charset="-122"/>
                <a:cs typeface="Calibri" pitchFamily="34" charset="-120"/>
              </a:rPr>
              <a:t>Background / Tissue</a:t>
            </a:r>
            <a:endParaRPr lang="en-US" sz="1000" dirty="0"/>
          </a:p>
          <a:p>
            <a:pPr marL="0" indent="0" algn="ctr">
              <a:buNone/>
            </a:pPr>
            <a:r>
              <a:rPr lang="en-US" sz="1000" dirty="0">
                <a:solidFill>
                  <a:srgbClr val="6B7A8D"/>
                </a:solidFill>
                <a:latin typeface="Calibri" pitchFamily="34" charset="0"/>
                <a:ea typeface="Calibri" pitchFamily="34" charset="-122"/>
                <a:cs typeface="Calibri" pitchFamily="34" charset="-120"/>
              </a:rPr>
              <a:t>/ Deposition labels</a:t>
            </a:r>
            <a:endParaRPr lang="en-US" sz="1000" dirty="0"/>
          </a:p>
        </p:txBody>
      </p:sp>
      <p:sp>
        <p:nvSpPr>
          <p:cNvPr id="21" name="Shape 19"/>
          <p:cNvSpPr/>
          <p:nvPr/>
        </p:nvSpPr>
        <p:spPr>
          <a:xfrm>
            <a:off x="5567734" y="2580894"/>
            <a:ext cx="201168" cy="0"/>
          </a:xfrm>
          <a:prstGeom prst="line">
            <a:avLst/>
          </a:prstGeom>
          <a:noFill/>
          <a:ln w="25400">
            <a:solidFill>
              <a:srgbClr val="D4892A"/>
            </a:solidFill>
            <a:prstDash val="solid"/>
          </a:ln>
        </p:spPr>
        <p:txBody>
          <a:bodyPr/>
          <a:lstStyle/>
          <a:p>
            <a:endParaRPr lang="en-US"/>
          </a:p>
        </p:txBody>
      </p:sp>
      <p:sp>
        <p:nvSpPr>
          <p:cNvPr id="22" name="Shape 20"/>
          <p:cNvSpPr/>
          <p:nvPr/>
        </p:nvSpPr>
        <p:spPr>
          <a:xfrm>
            <a:off x="5796334" y="971550"/>
            <a:ext cx="1463040" cy="3200400"/>
          </a:xfrm>
          <a:prstGeom prst="roundRect">
            <a:avLst>
              <a:gd name="adj" fmla="val 5000"/>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23" name="Shape 21"/>
          <p:cNvSpPr/>
          <p:nvPr/>
        </p:nvSpPr>
        <p:spPr>
          <a:xfrm>
            <a:off x="6143806" y="1081278"/>
            <a:ext cx="768096" cy="502920"/>
          </a:xfrm>
          <a:prstGeom prst="ellipse">
            <a:avLst/>
          </a:prstGeom>
          <a:solidFill>
            <a:srgbClr val="D4892A"/>
          </a:solidFill>
          <a:ln w="12700">
            <a:solidFill>
              <a:srgbClr val="D4892A"/>
            </a:solidFill>
            <a:prstDash val="solid"/>
          </a:ln>
        </p:spPr>
        <p:txBody>
          <a:bodyPr/>
          <a:lstStyle/>
          <a:p>
            <a:endParaRPr lang="en-US"/>
          </a:p>
        </p:txBody>
      </p:sp>
      <p:sp>
        <p:nvSpPr>
          <p:cNvPr id="24" name="Text 22"/>
          <p:cNvSpPr/>
          <p:nvPr/>
        </p:nvSpPr>
        <p:spPr>
          <a:xfrm>
            <a:off x="6143806" y="1081278"/>
            <a:ext cx="768096"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04</a:t>
            </a:r>
            <a:endParaRPr lang="en-US" sz="1500" dirty="0"/>
          </a:p>
        </p:txBody>
      </p:sp>
      <p:sp>
        <p:nvSpPr>
          <p:cNvPr id="25" name="Text 23"/>
          <p:cNvSpPr/>
          <p:nvPr/>
        </p:nvSpPr>
        <p:spPr>
          <a:xfrm>
            <a:off x="5842054" y="1684782"/>
            <a:ext cx="1371600" cy="411480"/>
          </a:xfrm>
          <a:prstGeom prst="rect">
            <a:avLst/>
          </a:prstGeom>
          <a:noFill/>
          <a:ln/>
        </p:spPr>
        <p:txBody>
          <a:bodyPr wrap="square" lIns="0" tIns="0" rIns="0" bIns="0" rtlCol="0" anchor="ctr"/>
          <a:lstStyle/>
          <a:p>
            <a:pPr marL="0" indent="0" algn="ctr">
              <a:buNone/>
            </a:pPr>
            <a:r>
              <a:rPr lang="en-US" sz="1200" b="1" dirty="0">
                <a:solidFill>
                  <a:srgbClr val="1A2A4A"/>
                </a:solidFill>
                <a:latin typeface="Cambria" pitchFamily="34" charset="0"/>
                <a:ea typeface="Cambria" pitchFamily="34" charset="-122"/>
                <a:cs typeface="Cambria" pitchFamily="34" charset="-120"/>
              </a:rPr>
              <a:t>R Analysis</a:t>
            </a:r>
            <a:endParaRPr lang="en-US" sz="1200" dirty="0"/>
          </a:p>
        </p:txBody>
      </p:sp>
      <p:sp>
        <p:nvSpPr>
          <p:cNvPr id="26" name="Text 24"/>
          <p:cNvSpPr/>
          <p:nvPr/>
        </p:nvSpPr>
        <p:spPr>
          <a:xfrm>
            <a:off x="5842054" y="2178558"/>
            <a:ext cx="1371600" cy="1645920"/>
          </a:xfrm>
          <a:prstGeom prst="rect">
            <a:avLst/>
          </a:prstGeom>
          <a:noFill/>
          <a:ln/>
        </p:spPr>
        <p:txBody>
          <a:bodyPr wrap="square" lIns="50800" tIns="50800" rIns="50800" bIns="50800" rtlCol="0" anchor="t"/>
          <a:lstStyle/>
          <a:p>
            <a:pPr marL="0" indent="0" algn="ctr">
              <a:buNone/>
            </a:pPr>
            <a:r>
              <a:rPr lang="en-US" sz="1000" dirty="0">
                <a:solidFill>
                  <a:srgbClr val="6B7A8D"/>
                </a:solidFill>
                <a:latin typeface="Calibri" pitchFamily="34" charset="0"/>
                <a:ea typeface="Calibri" pitchFamily="34" charset="-122"/>
                <a:cs typeface="Calibri" pitchFamily="34" charset="-120"/>
              </a:rPr>
              <a:t>Pixel counting &amp;</a:t>
            </a:r>
            <a:endParaRPr lang="en-US" sz="1000" dirty="0"/>
          </a:p>
          <a:p>
            <a:pPr marL="0" indent="0" algn="ctr">
              <a:buNone/>
            </a:pPr>
            <a:r>
              <a:rPr lang="en-US" sz="1000" dirty="0">
                <a:solidFill>
                  <a:srgbClr val="6B7A8D"/>
                </a:solidFill>
                <a:latin typeface="Calibri" pitchFamily="34" charset="0"/>
                <a:ea typeface="Calibri" pitchFamily="34" charset="-122"/>
                <a:cs typeface="Calibri" pitchFamily="34" charset="-120"/>
              </a:rPr>
              <a:t>deposition fraction</a:t>
            </a:r>
            <a:endParaRPr lang="en-US" sz="1000" dirty="0"/>
          </a:p>
        </p:txBody>
      </p:sp>
      <p:sp>
        <p:nvSpPr>
          <p:cNvPr id="27" name="Shape 25"/>
          <p:cNvSpPr/>
          <p:nvPr/>
        </p:nvSpPr>
        <p:spPr>
          <a:xfrm>
            <a:off x="7277662" y="2580894"/>
            <a:ext cx="201168" cy="0"/>
          </a:xfrm>
          <a:prstGeom prst="line">
            <a:avLst/>
          </a:prstGeom>
          <a:noFill/>
          <a:ln w="25400">
            <a:solidFill>
              <a:srgbClr val="D4892A"/>
            </a:solidFill>
            <a:prstDash val="solid"/>
          </a:ln>
        </p:spPr>
        <p:txBody>
          <a:bodyPr/>
          <a:lstStyle/>
          <a:p>
            <a:endParaRPr lang="en-US"/>
          </a:p>
        </p:txBody>
      </p:sp>
      <p:sp>
        <p:nvSpPr>
          <p:cNvPr id="28" name="Shape 26"/>
          <p:cNvSpPr/>
          <p:nvPr/>
        </p:nvSpPr>
        <p:spPr>
          <a:xfrm>
            <a:off x="7506262" y="971550"/>
            <a:ext cx="1463040" cy="3200400"/>
          </a:xfrm>
          <a:prstGeom prst="roundRect">
            <a:avLst>
              <a:gd name="adj" fmla="val 5000"/>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29" name="Shape 27"/>
          <p:cNvSpPr/>
          <p:nvPr/>
        </p:nvSpPr>
        <p:spPr>
          <a:xfrm>
            <a:off x="7853734" y="1081278"/>
            <a:ext cx="768096" cy="502920"/>
          </a:xfrm>
          <a:prstGeom prst="ellipse">
            <a:avLst/>
          </a:prstGeom>
          <a:solidFill>
            <a:srgbClr val="2E8A5A"/>
          </a:solidFill>
          <a:ln w="12700">
            <a:solidFill>
              <a:srgbClr val="2E8A5A"/>
            </a:solidFill>
            <a:prstDash val="solid"/>
          </a:ln>
        </p:spPr>
        <p:txBody>
          <a:bodyPr/>
          <a:lstStyle/>
          <a:p>
            <a:endParaRPr lang="en-US"/>
          </a:p>
        </p:txBody>
      </p:sp>
      <p:sp>
        <p:nvSpPr>
          <p:cNvPr id="30" name="Text 28"/>
          <p:cNvSpPr/>
          <p:nvPr/>
        </p:nvSpPr>
        <p:spPr>
          <a:xfrm>
            <a:off x="7853734" y="1081278"/>
            <a:ext cx="768096"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05</a:t>
            </a:r>
            <a:endParaRPr lang="en-US" sz="1500" dirty="0"/>
          </a:p>
        </p:txBody>
      </p:sp>
      <p:sp>
        <p:nvSpPr>
          <p:cNvPr id="31" name="Text 29"/>
          <p:cNvSpPr/>
          <p:nvPr/>
        </p:nvSpPr>
        <p:spPr>
          <a:xfrm>
            <a:off x="7551982" y="1684782"/>
            <a:ext cx="1371600" cy="411480"/>
          </a:xfrm>
          <a:prstGeom prst="rect">
            <a:avLst/>
          </a:prstGeom>
          <a:noFill/>
          <a:ln/>
        </p:spPr>
        <p:txBody>
          <a:bodyPr wrap="square" lIns="0" tIns="0" rIns="0" bIns="0" rtlCol="0" anchor="ctr"/>
          <a:lstStyle/>
          <a:p>
            <a:pPr marL="0" indent="0" algn="ctr">
              <a:buNone/>
            </a:pPr>
            <a:r>
              <a:rPr lang="en-US" sz="1200" b="1" dirty="0">
                <a:solidFill>
                  <a:srgbClr val="1A2A4A"/>
                </a:solidFill>
                <a:latin typeface="Cambria" pitchFamily="34" charset="0"/>
                <a:ea typeface="Cambria" pitchFamily="34" charset="-122"/>
                <a:cs typeface="Cambria" pitchFamily="34" charset="-120"/>
              </a:rPr>
              <a:t>Outputs</a:t>
            </a:r>
            <a:endParaRPr lang="en-US" sz="1200" dirty="0"/>
          </a:p>
        </p:txBody>
      </p:sp>
      <p:sp>
        <p:nvSpPr>
          <p:cNvPr id="32" name="Text 30"/>
          <p:cNvSpPr/>
          <p:nvPr/>
        </p:nvSpPr>
        <p:spPr>
          <a:xfrm>
            <a:off x="7551982" y="2178558"/>
            <a:ext cx="1371600" cy="1645920"/>
          </a:xfrm>
          <a:prstGeom prst="rect">
            <a:avLst/>
          </a:prstGeom>
          <a:noFill/>
          <a:ln/>
        </p:spPr>
        <p:txBody>
          <a:bodyPr wrap="square" lIns="50800" tIns="50800" rIns="50800" bIns="50800" rtlCol="0" anchor="t"/>
          <a:lstStyle/>
          <a:p>
            <a:pPr marL="0" indent="0" algn="ctr">
              <a:buNone/>
            </a:pPr>
            <a:r>
              <a:rPr lang="en-US" sz="1000" dirty="0">
                <a:solidFill>
                  <a:srgbClr val="6B7A8D"/>
                </a:solidFill>
                <a:latin typeface="Calibri" pitchFamily="34" charset="0"/>
                <a:ea typeface="Calibri" pitchFamily="34" charset="-122"/>
                <a:cs typeface="Calibri" pitchFamily="34" charset="-120"/>
              </a:rPr>
              <a:t>Heatmaps, boxplots</a:t>
            </a:r>
            <a:endParaRPr lang="en-US" sz="1000" dirty="0"/>
          </a:p>
          <a:p>
            <a:pPr marL="0" indent="0" algn="ctr">
              <a:buNone/>
            </a:pPr>
            <a:r>
              <a:rPr lang="en-US" sz="1000" dirty="0">
                <a:solidFill>
                  <a:srgbClr val="6B7A8D"/>
                </a:solidFill>
                <a:latin typeface="Calibri" pitchFamily="34" charset="0"/>
                <a:ea typeface="Calibri" pitchFamily="34" charset="-122"/>
                <a:cs typeface="Calibri" pitchFamily="34" charset="-120"/>
              </a:rPr>
              <a:t>&amp; summary table</a:t>
            </a:r>
            <a:endParaRPr lang="en-US" sz="1000" dirty="0"/>
          </a:p>
        </p:txBody>
      </p:sp>
      <p:sp>
        <p:nvSpPr>
          <p:cNvPr id="33" name="Text 31"/>
          <p:cNvSpPr/>
          <p:nvPr/>
        </p:nvSpPr>
        <p:spPr>
          <a:xfrm>
            <a:off x="619868" y="4309230"/>
            <a:ext cx="2011680" cy="274320"/>
          </a:xfrm>
          <a:prstGeom prst="rect">
            <a:avLst/>
          </a:prstGeom>
          <a:noFill/>
          <a:ln/>
        </p:spPr>
        <p:txBody>
          <a:bodyPr wrap="square" lIns="0" tIns="0" rIns="0" bIns="0" rtlCol="0" anchor="ctr"/>
          <a:lstStyle/>
          <a:p>
            <a:pPr marL="0" indent="0" algn="l">
              <a:buNone/>
            </a:pPr>
            <a:r>
              <a:rPr lang="en-US" dirty="0">
                <a:solidFill>
                  <a:srgbClr val="6B7A8D"/>
                </a:solidFill>
                <a:latin typeface="Calibri" pitchFamily="34" charset="0"/>
                <a:ea typeface="Calibri" pitchFamily="34" charset="-122"/>
                <a:cs typeface="Calibri" pitchFamily="34" charset="-120"/>
              </a:rPr>
              <a:t>Ilastik pixel classes:</a:t>
            </a:r>
            <a:endParaRPr lang="en-US" dirty="0"/>
          </a:p>
        </p:txBody>
      </p:sp>
      <p:sp>
        <p:nvSpPr>
          <p:cNvPr id="34" name="Shape 32"/>
          <p:cNvSpPr/>
          <p:nvPr/>
        </p:nvSpPr>
        <p:spPr>
          <a:xfrm>
            <a:off x="2468880" y="4325112"/>
            <a:ext cx="1783080" cy="320040"/>
          </a:xfrm>
          <a:prstGeom prst="roundRect">
            <a:avLst>
              <a:gd name="adj" fmla="val 22857"/>
            </a:avLst>
          </a:prstGeom>
          <a:solidFill>
            <a:srgbClr val="EDF2FA">
              <a:alpha val="70000"/>
            </a:srgbClr>
          </a:solidFill>
          <a:ln w="12700">
            <a:solidFill>
              <a:srgbClr val="EDF2FA"/>
            </a:solidFill>
            <a:prstDash val="solid"/>
          </a:ln>
        </p:spPr>
        <p:txBody>
          <a:bodyPr/>
          <a:lstStyle/>
          <a:p>
            <a:endParaRPr lang="en-US"/>
          </a:p>
        </p:txBody>
      </p:sp>
      <p:sp>
        <p:nvSpPr>
          <p:cNvPr id="35" name="Text 33"/>
          <p:cNvSpPr/>
          <p:nvPr/>
        </p:nvSpPr>
        <p:spPr>
          <a:xfrm>
            <a:off x="2468880" y="4325112"/>
            <a:ext cx="1783080" cy="320040"/>
          </a:xfrm>
          <a:prstGeom prst="rect">
            <a:avLst/>
          </a:prstGeom>
          <a:noFill/>
          <a:ln/>
        </p:spPr>
        <p:txBody>
          <a:bodyPr wrap="square" lIns="0" tIns="0" rIns="0" bIns="0" rtlCol="0" anchor="ctr"/>
          <a:lstStyle/>
          <a:p>
            <a:pPr marL="0" indent="0" algn="ctr">
              <a:buNone/>
            </a:pPr>
            <a:r>
              <a:rPr lang="en-US" b="1" dirty="0">
                <a:solidFill>
                  <a:srgbClr val="1A2A4A"/>
                </a:solidFill>
                <a:latin typeface="Calibri" pitchFamily="34" charset="0"/>
                <a:ea typeface="Calibri" pitchFamily="34" charset="-122"/>
                <a:cs typeface="Calibri" pitchFamily="34" charset="-120"/>
              </a:rPr>
              <a:t>1  Background</a:t>
            </a:r>
            <a:endParaRPr lang="en-US" dirty="0"/>
          </a:p>
        </p:txBody>
      </p:sp>
      <p:sp>
        <p:nvSpPr>
          <p:cNvPr id="36" name="Shape 34"/>
          <p:cNvSpPr/>
          <p:nvPr/>
        </p:nvSpPr>
        <p:spPr>
          <a:xfrm>
            <a:off x="4617720" y="4325112"/>
            <a:ext cx="1783080" cy="320040"/>
          </a:xfrm>
          <a:prstGeom prst="roundRect">
            <a:avLst>
              <a:gd name="adj" fmla="val 22857"/>
            </a:avLst>
          </a:prstGeom>
          <a:solidFill>
            <a:srgbClr val="D4892A">
              <a:alpha val="70000"/>
            </a:srgbClr>
          </a:solidFill>
          <a:ln w="12700">
            <a:solidFill>
              <a:srgbClr val="D4892A"/>
            </a:solidFill>
            <a:prstDash val="solid"/>
          </a:ln>
        </p:spPr>
        <p:txBody>
          <a:bodyPr/>
          <a:lstStyle/>
          <a:p>
            <a:endParaRPr lang="en-US"/>
          </a:p>
        </p:txBody>
      </p:sp>
      <p:sp>
        <p:nvSpPr>
          <p:cNvPr id="37" name="Text 35"/>
          <p:cNvSpPr/>
          <p:nvPr/>
        </p:nvSpPr>
        <p:spPr>
          <a:xfrm>
            <a:off x="4617720" y="4325112"/>
            <a:ext cx="1783080" cy="320040"/>
          </a:xfrm>
          <a:prstGeom prst="rect">
            <a:avLst/>
          </a:prstGeom>
          <a:noFill/>
          <a:ln/>
        </p:spPr>
        <p:txBody>
          <a:bodyPr wrap="square" lIns="0" tIns="0" rIns="0" bIns="0" rtlCol="0" anchor="ctr"/>
          <a:lstStyle/>
          <a:p>
            <a:pPr marL="0" indent="0" algn="ctr">
              <a:buNone/>
            </a:pPr>
            <a:r>
              <a:rPr lang="en-US" b="1" dirty="0">
                <a:solidFill>
                  <a:srgbClr val="1A2A4A"/>
                </a:solidFill>
                <a:latin typeface="Calibri" pitchFamily="34" charset="0"/>
                <a:ea typeface="Calibri" pitchFamily="34" charset="-122"/>
                <a:cs typeface="Calibri" pitchFamily="34" charset="-120"/>
              </a:rPr>
              <a:t>2  Brain tissue</a:t>
            </a:r>
            <a:endParaRPr lang="en-US" dirty="0"/>
          </a:p>
        </p:txBody>
      </p:sp>
      <p:sp>
        <p:nvSpPr>
          <p:cNvPr id="38" name="Shape 36"/>
          <p:cNvSpPr/>
          <p:nvPr/>
        </p:nvSpPr>
        <p:spPr>
          <a:xfrm>
            <a:off x="6766560" y="4325112"/>
            <a:ext cx="1783080" cy="320040"/>
          </a:xfrm>
          <a:prstGeom prst="roundRect">
            <a:avLst>
              <a:gd name="adj" fmla="val 22857"/>
            </a:avLst>
          </a:prstGeom>
          <a:solidFill>
            <a:srgbClr val="2E6DA4">
              <a:alpha val="70000"/>
            </a:srgbClr>
          </a:solidFill>
          <a:ln w="12700">
            <a:solidFill>
              <a:srgbClr val="2E6DA4"/>
            </a:solidFill>
            <a:prstDash val="solid"/>
          </a:ln>
        </p:spPr>
        <p:txBody>
          <a:bodyPr/>
          <a:lstStyle/>
          <a:p>
            <a:endParaRPr lang="en-US"/>
          </a:p>
        </p:txBody>
      </p:sp>
      <p:sp>
        <p:nvSpPr>
          <p:cNvPr id="39" name="Text 37"/>
          <p:cNvSpPr/>
          <p:nvPr/>
        </p:nvSpPr>
        <p:spPr>
          <a:xfrm>
            <a:off x="6766560" y="4325112"/>
            <a:ext cx="1783080" cy="320040"/>
          </a:xfrm>
          <a:prstGeom prst="rect">
            <a:avLst/>
          </a:prstGeom>
          <a:noFill/>
          <a:ln/>
        </p:spPr>
        <p:txBody>
          <a:bodyPr wrap="square" lIns="0" tIns="0" rIns="0" bIns="0" rtlCol="0" anchor="ctr"/>
          <a:lstStyle/>
          <a:p>
            <a:pPr marL="0" indent="0" algn="ctr">
              <a:buNone/>
            </a:pPr>
            <a:r>
              <a:rPr lang="en-US" b="1" dirty="0">
                <a:solidFill>
                  <a:srgbClr val="1A2A4A"/>
                </a:solidFill>
                <a:latin typeface="Calibri" pitchFamily="34" charset="0"/>
                <a:ea typeface="Calibri" pitchFamily="34" charset="-122"/>
                <a:cs typeface="Calibri" pitchFamily="34" charset="-120"/>
              </a:rPr>
              <a:t>3  Deposition</a:t>
            </a:r>
            <a:endParaRPr lang="en-US" dirty="0"/>
          </a:p>
        </p:txBody>
      </p:sp>
    </p:spTree>
    <p:extLst>
      <p:ext uri="{BB962C8B-B14F-4D97-AF65-F5344CB8AC3E}">
        <p14:creationId xmlns:p14="http://schemas.microsoft.com/office/powerpoint/2010/main" val="3932800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21792" y="293329"/>
            <a:ext cx="8229600" cy="502920"/>
          </a:xfrm>
          <a:prstGeom prst="rect">
            <a:avLst/>
          </a:prstGeom>
          <a:noFill/>
          <a:ln/>
        </p:spPr>
        <p:txBody>
          <a:bodyPr wrap="square" lIns="0" tIns="0" rIns="0" bIns="0" rtlCol="0" anchor="ctr"/>
          <a:lstStyle/>
          <a:p>
            <a:pPr marL="0" indent="0" algn="l">
              <a:buNone/>
            </a:pPr>
            <a:r>
              <a:rPr lang="en-US" sz="3000" b="1" dirty="0">
                <a:solidFill>
                  <a:srgbClr val="1A2A4A"/>
                </a:solidFill>
                <a:latin typeface="Cambria" pitchFamily="34" charset="0"/>
                <a:ea typeface="Cambria" pitchFamily="34" charset="-122"/>
                <a:cs typeface="Cambria" pitchFamily="34" charset="-120"/>
              </a:rPr>
              <a:t>Stage 1 — Ilastik Pixel Classification</a:t>
            </a:r>
            <a:endParaRPr lang="en-US" sz="3000" dirty="0"/>
          </a:p>
        </p:txBody>
      </p:sp>
      <p:sp>
        <p:nvSpPr>
          <p:cNvPr id="3" name="Shape 1"/>
          <p:cNvSpPr/>
          <p:nvPr/>
        </p:nvSpPr>
        <p:spPr>
          <a:xfrm>
            <a:off x="457200" y="859536"/>
            <a:ext cx="8229600" cy="18288"/>
          </a:xfrm>
          <a:prstGeom prst="ellipse">
            <a:avLst/>
          </a:prstGeom>
          <a:solidFill>
            <a:srgbClr val="EDF2FA"/>
          </a:solidFill>
          <a:ln w="12700">
            <a:solidFill>
              <a:srgbClr val="EDF2FA"/>
            </a:solidFill>
            <a:prstDash val="solid"/>
          </a:ln>
        </p:spPr>
        <p:txBody>
          <a:bodyPr/>
          <a:lstStyle/>
          <a:p>
            <a:endParaRPr lang="en-US"/>
          </a:p>
        </p:txBody>
      </p:sp>
      <p:sp>
        <p:nvSpPr>
          <p:cNvPr id="4" name="Shape 2"/>
          <p:cNvSpPr/>
          <p:nvPr/>
        </p:nvSpPr>
        <p:spPr>
          <a:xfrm>
            <a:off x="685800" y="1082843"/>
            <a:ext cx="4023360" cy="3840480"/>
          </a:xfrm>
          <a:prstGeom prst="roundRect">
            <a:avLst>
              <a:gd name="adj" fmla="val 1905"/>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5" name="Text 3"/>
          <p:cNvSpPr/>
          <p:nvPr/>
        </p:nvSpPr>
        <p:spPr>
          <a:xfrm>
            <a:off x="868680" y="1174283"/>
            <a:ext cx="3657600" cy="347472"/>
          </a:xfrm>
          <a:prstGeom prst="rect">
            <a:avLst/>
          </a:prstGeom>
          <a:noFill/>
          <a:ln/>
        </p:spPr>
        <p:txBody>
          <a:bodyPr wrap="square" lIns="0" tIns="0" rIns="0" bIns="0" rtlCol="0" anchor="ctr"/>
          <a:lstStyle/>
          <a:p>
            <a:pPr marL="0" indent="0">
              <a:buNone/>
            </a:pPr>
            <a:r>
              <a:rPr lang="en-US" sz="1400" b="1" dirty="0">
                <a:solidFill>
                  <a:srgbClr val="1A2A4A"/>
                </a:solidFill>
                <a:latin typeface="Cambria" pitchFamily="34" charset="0"/>
                <a:ea typeface="Cambria" pitchFamily="34" charset="-122"/>
                <a:cs typeface="Cambria" pitchFamily="34" charset="-120"/>
              </a:rPr>
              <a:t>What Ilastik does</a:t>
            </a:r>
            <a:endParaRPr lang="en-US" sz="1400" dirty="0"/>
          </a:p>
        </p:txBody>
      </p:sp>
      <p:sp>
        <p:nvSpPr>
          <p:cNvPr id="6" name="Text 4"/>
          <p:cNvSpPr/>
          <p:nvPr/>
        </p:nvSpPr>
        <p:spPr>
          <a:xfrm>
            <a:off x="868680" y="1631483"/>
            <a:ext cx="3657600" cy="3017520"/>
          </a:xfrm>
          <a:prstGeom prst="rect">
            <a:avLst/>
          </a:prstGeom>
          <a:noFill/>
          <a:ln/>
        </p:spPr>
        <p:txBody>
          <a:bodyPr wrap="square" lIns="76200" tIns="76200" rIns="76200" bIns="76200" rtlCol="0" anchor="t"/>
          <a:lstStyle/>
          <a:p>
            <a:pPr marL="342900" indent="-342900">
              <a:spcAft>
                <a:spcPts val="600"/>
              </a:spcAft>
              <a:buSzPct val="100000"/>
              <a:buChar char="•"/>
            </a:pPr>
            <a:r>
              <a:rPr lang="en-US" sz="1200" dirty="0">
                <a:solidFill>
                  <a:srgbClr val="6B7A8D"/>
                </a:solidFill>
                <a:latin typeface="Calibri" pitchFamily="34" charset="0"/>
              </a:rPr>
              <a:t>Interactive ML — train on a handful of annotated pixels</a:t>
            </a:r>
          </a:p>
          <a:p>
            <a:pPr marL="342900" indent="-342900">
              <a:spcAft>
                <a:spcPts val="600"/>
              </a:spcAft>
              <a:buSzPct val="100000"/>
              <a:buChar char="•"/>
            </a:pPr>
            <a:r>
              <a:rPr lang="en-US" sz="1200" dirty="0">
                <a:solidFill>
                  <a:srgbClr val="6B7A8D"/>
                </a:solidFill>
                <a:latin typeface="Calibri" pitchFamily="34" charset="0"/>
              </a:rPr>
              <a:t>3-class segmentation: background, brain tissue, deposition</a:t>
            </a:r>
          </a:p>
          <a:p>
            <a:pPr marL="342900" indent="-342900">
              <a:spcAft>
                <a:spcPts val="600"/>
              </a:spcAft>
              <a:buSzPct val="100000"/>
              <a:buChar char="•"/>
            </a:pPr>
            <a:r>
              <a:rPr lang="en-US" sz="1200" dirty="0">
                <a:solidFill>
                  <a:srgbClr val="6B7A8D"/>
                </a:solidFill>
                <a:latin typeface="Calibri" pitchFamily="34" charset="0"/>
              </a:rPr>
              <a:t>Batch processing for full image cohorts</a:t>
            </a:r>
          </a:p>
        </p:txBody>
      </p:sp>
      <p:sp>
        <p:nvSpPr>
          <p:cNvPr id="7" name="Shape 5"/>
          <p:cNvSpPr/>
          <p:nvPr/>
        </p:nvSpPr>
        <p:spPr>
          <a:xfrm>
            <a:off x="4937760" y="1082843"/>
            <a:ext cx="4023360" cy="3840480"/>
          </a:xfrm>
          <a:prstGeom prst="roundRect">
            <a:avLst>
              <a:gd name="adj" fmla="val 1905"/>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8" name="Text 6"/>
          <p:cNvSpPr/>
          <p:nvPr/>
        </p:nvSpPr>
        <p:spPr>
          <a:xfrm>
            <a:off x="5120640" y="1174283"/>
            <a:ext cx="3840480" cy="347472"/>
          </a:xfrm>
          <a:prstGeom prst="rect">
            <a:avLst/>
          </a:prstGeom>
          <a:noFill/>
          <a:ln/>
        </p:spPr>
        <p:txBody>
          <a:bodyPr wrap="square" lIns="0" tIns="0" rIns="0" bIns="0" rtlCol="0" anchor="ctr"/>
          <a:lstStyle/>
          <a:p>
            <a:pPr marL="0" indent="0">
              <a:buNone/>
            </a:pPr>
            <a:r>
              <a:rPr lang="en-US" sz="1400" b="1" dirty="0">
                <a:solidFill>
                  <a:srgbClr val="1A2A4A"/>
                </a:solidFill>
                <a:latin typeface="Cambria" pitchFamily="34" charset="0"/>
                <a:ea typeface="Cambria" pitchFamily="34" charset="-122"/>
                <a:cs typeface="Cambria" pitchFamily="34" charset="-120"/>
              </a:rPr>
              <a:t>Segmentation mask legend</a:t>
            </a:r>
            <a:endParaRPr lang="en-US" sz="1400" dirty="0"/>
          </a:p>
        </p:txBody>
      </p:sp>
      <p:sp>
        <p:nvSpPr>
          <p:cNvPr id="9" name="Shape 7"/>
          <p:cNvSpPr/>
          <p:nvPr/>
        </p:nvSpPr>
        <p:spPr>
          <a:xfrm>
            <a:off x="5120640" y="1677203"/>
            <a:ext cx="640080" cy="594360"/>
          </a:xfrm>
          <a:prstGeom prst="roundRect">
            <a:avLst>
              <a:gd name="adj" fmla="val 12308"/>
            </a:avLst>
          </a:prstGeom>
          <a:solidFill>
            <a:srgbClr val="EDF2FA"/>
          </a:solidFill>
          <a:ln w="12700">
            <a:solidFill>
              <a:srgbClr val="EDF2FA"/>
            </a:solidFill>
            <a:prstDash val="solid"/>
          </a:ln>
        </p:spPr>
        <p:txBody>
          <a:bodyPr/>
          <a:lstStyle/>
          <a:p>
            <a:endParaRPr lang="en-US"/>
          </a:p>
        </p:txBody>
      </p:sp>
      <p:sp>
        <p:nvSpPr>
          <p:cNvPr id="10" name="Text 8"/>
          <p:cNvSpPr/>
          <p:nvPr/>
        </p:nvSpPr>
        <p:spPr>
          <a:xfrm>
            <a:off x="5120640" y="1677203"/>
            <a:ext cx="64008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1" name="Text 9"/>
          <p:cNvSpPr/>
          <p:nvPr/>
        </p:nvSpPr>
        <p:spPr>
          <a:xfrm>
            <a:off x="5925312" y="1677203"/>
            <a:ext cx="2926080" cy="274320"/>
          </a:xfrm>
          <a:prstGeom prst="rect">
            <a:avLst/>
          </a:prstGeom>
          <a:noFill/>
          <a:ln/>
        </p:spPr>
        <p:txBody>
          <a:bodyPr wrap="square" lIns="0" tIns="0" rIns="0" bIns="0" rtlCol="0" anchor="ctr"/>
          <a:lstStyle/>
          <a:p>
            <a:pPr marL="0" indent="0">
              <a:buNone/>
            </a:pPr>
            <a:r>
              <a:rPr lang="en-US" sz="1300" b="1" dirty="0">
                <a:solidFill>
                  <a:srgbClr val="1A2A4A"/>
                </a:solidFill>
                <a:latin typeface="Cambria" pitchFamily="34" charset="0"/>
                <a:ea typeface="Cambria" pitchFamily="34" charset="-122"/>
                <a:cs typeface="Cambria" pitchFamily="34" charset="-120"/>
              </a:rPr>
              <a:t>Background</a:t>
            </a:r>
            <a:endParaRPr lang="en-US" sz="1300" dirty="0"/>
          </a:p>
        </p:txBody>
      </p:sp>
      <p:sp>
        <p:nvSpPr>
          <p:cNvPr id="12" name="Text 10"/>
          <p:cNvSpPr/>
          <p:nvPr/>
        </p:nvSpPr>
        <p:spPr>
          <a:xfrm>
            <a:off x="5925312" y="1969811"/>
            <a:ext cx="2926080" cy="27432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Non-tissue area</a:t>
            </a:r>
            <a:endParaRPr lang="en-US" sz="1100" dirty="0"/>
          </a:p>
        </p:txBody>
      </p:sp>
      <p:sp>
        <p:nvSpPr>
          <p:cNvPr id="13" name="Shape 11"/>
          <p:cNvSpPr/>
          <p:nvPr/>
        </p:nvSpPr>
        <p:spPr>
          <a:xfrm>
            <a:off x="5120640" y="2728763"/>
            <a:ext cx="640080" cy="594360"/>
          </a:xfrm>
          <a:prstGeom prst="roundRect">
            <a:avLst>
              <a:gd name="adj" fmla="val 12308"/>
            </a:avLst>
          </a:prstGeom>
          <a:solidFill>
            <a:srgbClr val="D4892A"/>
          </a:solidFill>
          <a:ln w="12700">
            <a:solidFill>
              <a:srgbClr val="D4892A"/>
            </a:solidFill>
            <a:prstDash val="solid"/>
          </a:ln>
        </p:spPr>
        <p:txBody>
          <a:bodyPr/>
          <a:lstStyle/>
          <a:p>
            <a:endParaRPr lang="en-US"/>
          </a:p>
        </p:txBody>
      </p:sp>
      <p:sp>
        <p:nvSpPr>
          <p:cNvPr id="14" name="Text 12"/>
          <p:cNvSpPr/>
          <p:nvPr/>
        </p:nvSpPr>
        <p:spPr>
          <a:xfrm>
            <a:off x="5120640" y="2728763"/>
            <a:ext cx="64008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3"/>
          <p:cNvSpPr/>
          <p:nvPr/>
        </p:nvSpPr>
        <p:spPr>
          <a:xfrm>
            <a:off x="5925312" y="2728763"/>
            <a:ext cx="2926080" cy="274320"/>
          </a:xfrm>
          <a:prstGeom prst="rect">
            <a:avLst/>
          </a:prstGeom>
          <a:noFill/>
          <a:ln/>
        </p:spPr>
        <p:txBody>
          <a:bodyPr wrap="square" lIns="0" tIns="0" rIns="0" bIns="0" rtlCol="0" anchor="ctr"/>
          <a:lstStyle/>
          <a:p>
            <a:pPr marL="0" indent="0">
              <a:buNone/>
            </a:pPr>
            <a:r>
              <a:rPr lang="en-US" sz="1300" b="1" dirty="0">
                <a:solidFill>
                  <a:srgbClr val="1A2A4A"/>
                </a:solidFill>
                <a:latin typeface="Cambria" pitchFamily="34" charset="0"/>
                <a:ea typeface="Cambria" pitchFamily="34" charset="-122"/>
                <a:cs typeface="Cambria" pitchFamily="34" charset="-120"/>
              </a:rPr>
              <a:t>Brain tissue</a:t>
            </a:r>
            <a:endParaRPr lang="en-US" sz="1300" dirty="0"/>
          </a:p>
        </p:txBody>
      </p:sp>
      <p:sp>
        <p:nvSpPr>
          <p:cNvPr id="16" name="Text 14"/>
          <p:cNvSpPr/>
          <p:nvPr/>
        </p:nvSpPr>
        <p:spPr>
          <a:xfrm>
            <a:off x="5925312" y="3021371"/>
            <a:ext cx="2926080" cy="27432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Healthy / non-depositing</a:t>
            </a:r>
            <a:endParaRPr lang="en-US" sz="1100" dirty="0"/>
          </a:p>
        </p:txBody>
      </p:sp>
      <p:sp>
        <p:nvSpPr>
          <p:cNvPr id="17" name="Shape 15"/>
          <p:cNvSpPr/>
          <p:nvPr/>
        </p:nvSpPr>
        <p:spPr>
          <a:xfrm>
            <a:off x="5120640" y="3780323"/>
            <a:ext cx="640080" cy="594360"/>
          </a:xfrm>
          <a:prstGeom prst="roundRect">
            <a:avLst>
              <a:gd name="adj" fmla="val 12308"/>
            </a:avLst>
          </a:prstGeom>
          <a:solidFill>
            <a:srgbClr val="2E6DA4"/>
          </a:solidFill>
          <a:ln w="12700">
            <a:solidFill>
              <a:srgbClr val="2E6DA4"/>
            </a:solidFill>
            <a:prstDash val="solid"/>
          </a:ln>
        </p:spPr>
        <p:txBody>
          <a:bodyPr/>
          <a:lstStyle/>
          <a:p>
            <a:endParaRPr lang="en-US"/>
          </a:p>
        </p:txBody>
      </p:sp>
      <p:sp>
        <p:nvSpPr>
          <p:cNvPr id="18" name="Text 16"/>
          <p:cNvSpPr/>
          <p:nvPr/>
        </p:nvSpPr>
        <p:spPr>
          <a:xfrm>
            <a:off x="5120640" y="3780323"/>
            <a:ext cx="640080" cy="59436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9" name="Text 17"/>
          <p:cNvSpPr/>
          <p:nvPr/>
        </p:nvSpPr>
        <p:spPr>
          <a:xfrm>
            <a:off x="5925312" y="3780323"/>
            <a:ext cx="2926080" cy="274320"/>
          </a:xfrm>
          <a:prstGeom prst="rect">
            <a:avLst/>
          </a:prstGeom>
          <a:noFill/>
          <a:ln/>
        </p:spPr>
        <p:txBody>
          <a:bodyPr wrap="square" lIns="0" tIns="0" rIns="0" bIns="0" rtlCol="0" anchor="ctr"/>
          <a:lstStyle/>
          <a:p>
            <a:pPr marL="0" indent="0">
              <a:buNone/>
            </a:pPr>
            <a:r>
              <a:rPr lang="en-US" sz="1300" b="1" dirty="0">
                <a:solidFill>
                  <a:srgbClr val="1A2A4A"/>
                </a:solidFill>
                <a:latin typeface="Cambria" pitchFamily="34" charset="0"/>
                <a:ea typeface="Cambria" pitchFamily="34" charset="-122"/>
                <a:cs typeface="Cambria" pitchFamily="34" charset="-120"/>
              </a:rPr>
              <a:t>PrP Deposition</a:t>
            </a:r>
            <a:endParaRPr lang="en-US" sz="1300" dirty="0"/>
          </a:p>
        </p:txBody>
      </p:sp>
      <p:sp>
        <p:nvSpPr>
          <p:cNvPr id="20" name="Text 18"/>
          <p:cNvSpPr/>
          <p:nvPr/>
        </p:nvSpPr>
        <p:spPr>
          <a:xfrm>
            <a:off x="5925312" y="4072931"/>
            <a:ext cx="2926080" cy="27432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ea typeface="Calibri" pitchFamily="34" charset="-122"/>
                <a:cs typeface="Calibri" pitchFamily="34" charset="-120"/>
              </a:rPr>
              <a:t>Misfolded prion protein</a:t>
            </a:r>
            <a:endParaRPr lang="en-US" sz="1100" dirty="0"/>
          </a:p>
        </p:txBody>
      </p:sp>
    </p:spTree>
    <p:extLst>
      <p:ext uri="{BB962C8B-B14F-4D97-AF65-F5344CB8AC3E}">
        <p14:creationId xmlns:p14="http://schemas.microsoft.com/office/powerpoint/2010/main" val="3427740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41248" y="256032"/>
            <a:ext cx="8229600" cy="502920"/>
          </a:xfrm>
          <a:prstGeom prst="rect">
            <a:avLst/>
          </a:prstGeom>
          <a:noFill/>
          <a:ln/>
        </p:spPr>
        <p:txBody>
          <a:bodyPr wrap="square" lIns="0" tIns="0" rIns="0" bIns="0" rtlCol="0" anchor="ctr"/>
          <a:lstStyle/>
          <a:p>
            <a:pPr marL="0" indent="0" algn="l">
              <a:buNone/>
            </a:pPr>
            <a:r>
              <a:rPr lang="en-US" sz="3000" b="1" dirty="0">
                <a:solidFill>
                  <a:srgbClr val="1A2A4A"/>
                </a:solidFill>
                <a:latin typeface="Cambria" pitchFamily="34" charset="0"/>
                <a:ea typeface="Cambria" pitchFamily="34" charset="-122"/>
                <a:cs typeface="Cambria" pitchFamily="34" charset="-120"/>
              </a:rPr>
              <a:t>Stage 2 — R Quantification</a:t>
            </a:r>
            <a:endParaRPr lang="en-US" sz="3000" dirty="0"/>
          </a:p>
        </p:txBody>
      </p:sp>
      <p:sp>
        <p:nvSpPr>
          <p:cNvPr id="3" name="Shape 1"/>
          <p:cNvSpPr/>
          <p:nvPr/>
        </p:nvSpPr>
        <p:spPr>
          <a:xfrm>
            <a:off x="822960" y="795528"/>
            <a:ext cx="8229600" cy="18288"/>
          </a:xfrm>
          <a:prstGeom prst="ellipse">
            <a:avLst/>
          </a:prstGeom>
          <a:solidFill>
            <a:srgbClr val="EDF2FA"/>
          </a:solidFill>
          <a:ln w="12700">
            <a:solidFill>
              <a:srgbClr val="EDF2FA"/>
            </a:solidFill>
            <a:prstDash val="solid"/>
          </a:ln>
        </p:spPr>
        <p:txBody>
          <a:bodyPr/>
          <a:lstStyle/>
          <a:p>
            <a:endParaRPr lang="en-US"/>
          </a:p>
        </p:txBody>
      </p:sp>
      <p:sp>
        <p:nvSpPr>
          <p:cNvPr id="4" name="Shape 2"/>
          <p:cNvSpPr/>
          <p:nvPr/>
        </p:nvSpPr>
        <p:spPr>
          <a:xfrm>
            <a:off x="685800" y="1001268"/>
            <a:ext cx="3950208" cy="3323844"/>
          </a:xfrm>
          <a:prstGeom prst="roundRect">
            <a:avLst>
              <a:gd name="adj" fmla="val 2162"/>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5" name="Shape 3"/>
          <p:cNvSpPr/>
          <p:nvPr/>
        </p:nvSpPr>
        <p:spPr>
          <a:xfrm>
            <a:off x="795528" y="1014984"/>
            <a:ext cx="2377440" cy="347472"/>
          </a:xfrm>
          <a:prstGeom prst="roundRect">
            <a:avLst>
              <a:gd name="adj" fmla="val 26316"/>
            </a:avLst>
          </a:prstGeom>
          <a:solidFill>
            <a:srgbClr val="D4892A">
              <a:alpha val="80000"/>
            </a:srgbClr>
          </a:solidFill>
          <a:ln w="12700">
            <a:solidFill>
              <a:srgbClr val="D4892A"/>
            </a:solidFill>
            <a:prstDash val="solid"/>
          </a:ln>
        </p:spPr>
        <p:txBody>
          <a:bodyPr/>
          <a:lstStyle/>
          <a:p>
            <a:endParaRPr lang="en-US"/>
          </a:p>
        </p:txBody>
      </p:sp>
      <p:sp>
        <p:nvSpPr>
          <p:cNvPr id="6" name="Text 4"/>
          <p:cNvSpPr/>
          <p:nvPr/>
        </p:nvSpPr>
        <p:spPr>
          <a:xfrm>
            <a:off x="795528" y="1014984"/>
            <a:ext cx="23774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pipeline.R</a:t>
            </a:r>
            <a:endParaRPr lang="en-US" sz="1100" dirty="0"/>
          </a:p>
        </p:txBody>
      </p:sp>
      <p:sp>
        <p:nvSpPr>
          <p:cNvPr id="7" name="Text 5"/>
          <p:cNvSpPr/>
          <p:nvPr/>
        </p:nvSpPr>
        <p:spPr>
          <a:xfrm>
            <a:off x="795528" y="1444752"/>
            <a:ext cx="3840480" cy="320040"/>
          </a:xfrm>
          <a:prstGeom prst="rect">
            <a:avLst/>
          </a:prstGeom>
          <a:noFill/>
          <a:ln/>
        </p:spPr>
        <p:txBody>
          <a:bodyPr wrap="square" lIns="0" tIns="0" rIns="0" bIns="0" rtlCol="0" anchor="ctr"/>
          <a:lstStyle/>
          <a:p>
            <a:pPr marL="0" indent="0">
              <a:buNone/>
            </a:pPr>
            <a:r>
              <a:rPr lang="en-US" sz="1300" b="1" dirty="0">
                <a:solidFill>
                  <a:srgbClr val="D4892A"/>
                </a:solidFill>
                <a:latin typeface="Cambria" pitchFamily="34" charset="0"/>
                <a:ea typeface="Cambria" pitchFamily="34" charset="-122"/>
                <a:cs typeface="Cambria" pitchFamily="34" charset="-120"/>
              </a:rPr>
              <a:t>Image loading &amp; metadata</a:t>
            </a:r>
            <a:endParaRPr lang="en-US" sz="1300" dirty="0"/>
          </a:p>
        </p:txBody>
      </p:sp>
      <p:sp>
        <p:nvSpPr>
          <p:cNvPr id="8" name="Text 6"/>
          <p:cNvSpPr/>
          <p:nvPr/>
        </p:nvSpPr>
        <p:spPr>
          <a:xfrm>
            <a:off x="795528" y="1856232"/>
            <a:ext cx="3840480" cy="2286000"/>
          </a:xfrm>
          <a:prstGeom prst="rect">
            <a:avLst/>
          </a:prstGeom>
          <a:noFill/>
          <a:ln/>
        </p:spPr>
        <p:txBody>
          <a:bodyPr wrap="square" lIns="63500" tIns="63500" rIns="63500" bIns="63500" rtlCol="0" anchor="t"/>
          <a:lstStyle/>
          <a:p>
            <a:pPr marL="342900" indent="-342900">
              <a:spcAft>
                <a:spcPts val="500"/>
              </a:spcAft>
              <a:buSzPct val="100000"/>
              <a:buChar char="•"/>
            </a:pPr>
            <a:r>
              <a:rPr lang="en-US" sz="1150" dirty="0">
                <a:solidFill>
                  <a:srgbClr val="6B7A8D"/>
                </a:solidFill>
                <a:latin typeface="Calibri" pitchFamily="34" charset="0"/>
              </a:rPr>
              <a:t>Reads .tif files from 00_test-input/</a:t>
            </a:r>
          </a:p>
          <a:p>
            <a:pPr marL="342900" indent="-342900">
              <a:spcAft>
                <a:spcPts val="500"/>
              </a:spcAft>
              <a:buSzPct val="100000"/>
              <a:buChar char="•"/>
            </a:pPr>
            <a:r>
              <a:rPr lang="en-US" sz="1150" dirty="0">
                <a:solidFill>
                  <a:srgbClr val="6B7A8D"/>
                </a:solidFill>
                <a:latin typeface="Calibri" pitchFamily="34" charset="0"/>
              </a:rPr>
              <a:t>Parses filename metadata (group, treatment, region)</a:t>
            </a:r>
          </a:p>
          <a:p>
            <a:pPr marL="342900" indent="-342900">
              <a:spcAft>
                <a:spcPts val="500"/>
              </a:spcAft>
              <a:buSzPct val="100000"/>
              <a:buChar char="•"/>
            </a:pPr>
            <a:r>
              <a:rPr lang="en-US" sz="1150" dirty="0">
                <a:solidFill>
                  <a:srgbClr val="6B7A8D"/>
                </a:solidFill>
                <a:latin typeface="Calibri" pitchFamily="34" charset="0"/>
              </a:rPr>
              <a:t>Assigns unique Image IDs</a:t>
            </a:r>
          </a:p>
        </p:txBody>
      </p:sp>
      <p:sp>
        <p:nvSpPr>
          <p:cNvPr id="9" name="Shape 7"/>
          <p:cNvSpPr/>
          <p:nvPr/>
        </p:nvSpPr>
        <p:spPr>
          <a:xfrm>
            <a:off x="5120640" y="996696"/>
            <a:ext cx="3840480" cy="3328416"/>
          </a:xfrm>
          <a:prstGeom prst="roundRect">
            <a:avLst>
              <a:gd name="adj" fmla="val 2162"/>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10" name="Shape 8"/>
          <p:cNvSpPr/>
          <p:nvPr/>
        </p:nvSpPr>
        <p:spPr>
          <a:xfrm>
            <a:off x="5230368" y="1014984"/>
            <a:ext cx="2377440" cy="347472"/>
          </a:xfrm>
          <a:prstGeom prst="roundRect">
            <a:avLst>
              <a:gd name="adj" fmla="val 26316"/>
            </a:avLst>
          </a:prstGeom>
          <a:solidFill>
            <a:srgbClr val="2E6DA4">
              <a:alpha val="80000"/>
            </a:srgbClr>
          </a:solidFill>
          <a:ln w="12700">
            <a:solidFill>
              <a:srgbClr val="2E6DA4"/>
            </a:solidFill>
            <a:prstDash val="solid"/>
          </a:ln>
        </p:spPr>
        <p:txBody>
          <a:bodyPr/>
          <a:lstStyle/>
          <a:p>
            <a:endParaRPr lang="en-US"/>
          </a:p>
        </p:txBody>
      </p:sp>
      <p:sp>
        <p:nvSpPr>
          <p:cNvPr id="11" name="Text 9"/>
          <p:cNvSpPr/>
          <p:nvPr/>
        </p:nvSpPr>
        <p:spPr>
          <a:xfrm>
            <a:off x="5230368" y="1014984"/>
            <a:ext cx="23774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ourier New" pitchFamily="34" charset="0"/>
                <a:ea typeface="Courier New" pitchFamily="34" charset="-122"/>
                <a:cs typeface="Courier New" pitchFamily="34" charset="-120"/>
              </a:rPr>
              <a:t>Image_Analysis_Pipeline.R</a:t>
            </a:r>
            <a:endParaRPr lang="en-US" sz="1100" dirty="0"/>
          </a:p>
        </p:txBody>
      </p:sp>
      <p:sp>
        <p:nvSpPr>
          <p:cNvPr id="12" name="Text 10"/>
          <p:cNvSpPr/>
          <p:nvPr/>
        </p:nvSpPr>
        <p:spPr>
          <a:xfrm>
            <a:off x="5230368" y="1444752"/>
            <a:ext cx="3840480" cy="320040"/>
          </a:xfrm>
          <a:prstGeom prst="rect">
            <a:avLst/>
          </a:prstGeom>
          <a:noFill/>
          <a:ln/>
        </p:spPr>
        <p:txBody>
          <a:bodyPr wrap="square" lIns="0" tIns="0" rIns="0" bIns="0" rtlCol="0" anchor="ctr"/>
          <a:lstStyle/>
          <a:p>
            <a:pPr marL="0" indent="0">
              <a:buNone/>
            </a:pPr>
            <a:r>
              <a:rPr lang="en-US" sz="1300" b="1" dirty="0">
                <a:solidFill>
                  <a:srgbClr val="2E6DA4"/>
                </a:solidFill>
                <a:latin typeface="Cambria" pitchFamily="34" charset="0"/>
                <a:ea typeface="Cambria" pitchFamily="34" charset="-122"/>
                <a:cs typeface="Cambria" pitchFamily="34" charset="-120"/>
              </a:rPr>
              <a:t>Mask quantification</a:t>
            </a:r>
            <a:endParaRPr lang="en-US" sz="1300" dirty="0"/>
          </a:p>
        </p:txBody>
      </p:sp>
      <p:sp>
        <p:nvSpPr>
          <p:cNvPr id="13" name="Text 11"/>
          <p:cNvSpPr/>
          <p:nvPr/>
        </p:nvSpPr>
        <p:spPr>
          <a:xfrm>
            <a:off x="5230368" y="1856232"/>
            <a:ext cx="3840480" cy="2286000"/>
          </a:xfrm>
          <a:prstGeom prst="rect">
            <a:avLst/>
          </a:prstGeom>
          <a:noFill/>
          <a:ln/>
        </p:spPr>
        <p:txBody>
          <a:bodyPr wrap="square" lIns="63500" tIns="63500" rIns="63500" bIns="63500" rtlCol="0" anchor="t"/>
          <a:lstStyle/>
          <a:p>
            <a:pPr marL="342900" indent="-342900">
              <a:spcAft>
                <a:spcPts val="500"/>
              </a:spcAft>
              <a:buSzPct val="100000"/>
              <a:buChar char="•"/>
            </a:pPr>
            <a:r>
              <a:rPr lang="en-US" sz="1150" dirty="0">
                <a:solidFill>
                  <a:srgbClr val="6B7A8D"/>
                </a:solidFill>
                <a:latin typeface="Calibri" pitchFamily="34" charset="0"/>
              </a:rPr>
              <a:t>Reads masks from Masked_Images/</a:t>
            </a:r>
          </a:p>
          <a:p>
            <a:pPr marL="342900" indent="-342900">
              <a:spcAft>
                <a:spcPts val="500"/>
              </a:spcAft>
              <a:buSzPct val="100000"/>
              <a:buChar char="•"/>
            </a:pPr>
            <a:r>
              <a:rPr lang="en-US" sz="1150" dirty="0">
                <a:solidFill>
                  <a:srgbClr val="6B7A8D"/>
                </a:solidFill>
                <a:latin typeface="Calibri" pitchFamily="34" charset="0"/>
              </a:rPr>
              <a:t>Counts pixels per class (background, brain, deposition)</a:t>
            </a:r>
          </a:p>
          <a:p>
            <a:pPr marL="342900" indent="-342900">
              <a:spcAft>
                <a:spcPts val="500"/>
              </a:spcAft>
              <a:buSzPct val="100000"/>
              <a:buChar char="•"/>
            </a:pPr>
            <a:r>
              <a:rPr lang="en-US" sz="1150" dirty="0">
                <a:solidFill>
                  <a:srgbClr val="6B7A8D"/>
                </a:solidFill>
                <a:latin typeface="Calibri" pitchFamily="34" charset="0"/>
              </a:rPr>
              <a:t>Computes deposition_frac = deposition / brain pixels</a:t>
            </a:r>
          </a:p>
        </p:txBody>
      </p:sp>
      <p:sp>
        <p:nvSpPr>
          <p:cNvPr id="14" name="Shape 12"/>
          <p:cNvSpPr/>
          <p:nvPr/>
        </p:nvSpPr>
        <p:spPr>
          <a:xfrm>
            <a:off x="685800" y="4416552"/>
            <a:ext cx="8503920" cy="457200"/>
          </a:xfrm>
          <a:prstGeom prst="roundRect">
            <a:avLst>
              <a:gd name="adj" fmla="val 16000"/>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15" name="Text 13"/>
          <p:cNvSpPr/>
          <p:nvPr/>
        </p:nvSpPr>
        <p:spPr>
          <a:xfrm>
            <a:off x="685800" y="4416552"/>
            <a:ext cx="8503920" cy="457200"/>
          </a:xfrm>
          <a:prstGeom prst="rect">
            <a:avLst/>
          </a:prstGeom>
          <a:noFill/>
          <a:ln/>
        </p:spPr>
        <p:txBody>
          <a:bodyPr wrap="square" lIns="0" tIns="0" rIns="0" bIns="0" rtlCol="0" anchor="ctr"/>
          <a:lstStyle/>
          <a:p>
            <a:pPr marL="0" indent="0" algn="ctr">
              <a:buNone/>
            </a:pPr>
            <a:r>
              <a:rPr lang="en-US" sz="1200" dirty="0">
                <a:solidFill>
                  <a:srgbClr val="6B7A8D"/>
                </a:solidFill>
                <a:latin typeface="Calibri" pitchFamily="34" charset="0"/>
                <a:ea typeface="Calibri" pitchFamily="34" charset="-122"/>
                <a:cs typeface="Calibri" pitchFamily="34" charset="-120"/>
              </a:rPr>
              <a:t>Key metric:   </a:t>
            </a:r>
            <a:r>
              <a:rPr lang="en-US" sz="1200" b="1" dirty="0">
                <a:solidFill>
                  <a:srgbClr val="1A2A4A"/>
                </a:solidFill>
                <a:latin typeface="Courier New" pitchFamily="34" charset="0"/>
                <a:ea typeface="Courier New" pitchFamily="34" charset="-122"/>
                <a:cs typeface="Courier New" pitchFamily="34" charset="-120"/>
              </a:rPr>
              <a:t>deposition_frac</a:t>
            </a:r>
            <a:r>
              <a:rPr lang="en-US" sz="1200" dirty="0">
                <a:solidFill>
                  <a:srgbClr val="6B7A8D"/>
                </a:solidFill>
                <a:latin typeface="Calibri" pitchFamily="34" charset="0"/>
                <a:ea typeface="Calibri" pitchFamily="34" charset="-122"/>
                <a:cs typeface="Calibri" pitchFamily="34" charset="-120"/>
              </a:rPr>
              <a:t>  =  deposition pixels  ÷  brain tissue pixels</a:t>
            </a:r>
            <a:endParaRPr lang="en-US" sz="1200" dirty="0"/>
          </a:p>
        </p:txBody>
      </p:sp>
    </p:spTree>
    <p:extLst>
      <p:ext uri="{BB962C8B-B14F-4D97-AF65-F5344CB8AC3E}">
        <p14:creationId xmlns:p14="http://schemas.microsoft.com/office/powerpoint/2010/main" val="2393244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72703" y="274320"/>
            <a:ext cx="8229600" cy="502920"/>
          </a:xfrm>
          <a:prstGeom prst="rect">
            <a:avLst/>
          </a:prstGeom>
          <a:noFill/>
          <a:ln/>
        </p:spPr>
        <p:txBody>
          <a:bodyPr wrap="square" lIns="0" tIns="0" rIns="0" bIns="0" rtlCol="0" anchor="ctr"/>
          <a:lstStyle/>
          <a:p>
            <a:pPr marL="0" indent="0" algn="l">
              <a:buNone/>
            </a:pPr>
            <a:r>
              <a:rPr lang="en-US" sz="3000" b="1" dirty="0">
                <a:solidFill>
                  <a:srgbClr val="1A2A4A"/>
                </a:solidFill>
                <a:latin typeface="Cambria" pitchFamily="34" charset="0"/>
                <a:ea typeface="Cambria" pitchFamily="34" charset="-122"/>
                <a:cs typeface="Cambria" pitchFamily="34" charset="-120"/>
              </a:rPr>
              <a:t>Outputs</a:t>
            </a:r>
            <a:endParaRPr lang="en-US" sz="3000" dirty="0"/>
          </a:p>
        </p:txBody>
      </p:sp>
      <p:sp>
        <p:nvSpPr>
          <p:cNvPr id="3" name="Shape 1"/>
          <p:cNvSpPr/>
          <p:nvPr/>
        </p:nvSpPr>
        <p:spPr>
          <a:xfrm>
            <a:off x="640080" y="868680"/>
            <a:ext cx="8229600" cy="18288"/>
          </a:xfrm>
          <a:prstGeom prst="ellipse">
            <a:avLst/>
          </a:prstGeom>
          <a:solidFill>
            <a:srgbClr val="EDF2FA"/>
          </a:solidFill>
          <a:ln w="12700">
            <a:solidFill>
              <a:srgbClr val="EDF2FA"/>
            </a:solidFill>
            <a:prstDash val="solid"/>
          </a:ln>
        </p:spPr>
        <p:txBody>
          <a:bodyPr/>
          <a:lstStyle/>
          <a:p>
            <a:endParaRPr lang="en-US"/>
          </a:p>
        </p:txBody>
      </p:sp>
      <p:sp>
        <p:nvSpPr>
          <p:cNvPr id="4" name="Shape 2"/>
          <p:cNvSpPr/>
          <p:nvPr/>
        </p:nvSpPr>
        <p:spPr>
          <a:xfrm>
            <a:off x="572703" y="1028700"/>
            <a:ext cx="4160520" cy="1828800"/>
          </a:xfrm>
          <a:prstGeom prst="roundRect">
            <a:avLst>
              <a:gd name="adj" fmla="val 4000"/>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5" name="Shape 3"/>
          <p:cNvSpPr/>
          <p:nvPr/>
        </p:nvSpPr>
        <p:spPr>
          <a:xfrm>
            <a:off x="755583" y="1257300"/>
            <a:ext cx="685800" cy="685800"/>
          </a:xfrm>
          <a:prstGeom prst="ellipse">
            <a:avLst/>
          </a:prstGeom>
          <a:solidFill>
            <a:srgbClr val="EDF2FA">
              <a:alpha val="75000"/>
            </a:srgbClr>
          </a:solidFill>
          <a:ln w="12700">
            <a:solidFill>
              <a:srgbClr val="EDF2FA"/>
            </a:solidFill>
            <a:prstDash val="solid"/>
          </a:ln>
        </p:spPr>
        <p:txBody>
          <a:bodyPr/>
          <a:lstStyle/>
          <a:p>
            <a:endParaRPr lang="en-US"/>
          </a:p>
        </p:txBody>
      </p:sp>
      <p:sp>
        <p:nvSpPr>
          <p:cNvPr id="6" name="Text 4"/>
          <p:cNvSpPr/>
          <p:nvPr/>
        </p:nvSpPr>
        <p:spPr>
          <a:xfrm>
            <a:off x="755583" y="1257300"/>
            <a:ext cx="685800" cy="685800"/>
          </a:xfrm>
          <a:prstGeom prst="rect">
            <a:avLst/>
          </a:prstGeom>
          <a:noFill/>
          <a:ln/>
        </p:spPr>
        <p:txBody>
          <a:bodyPr wrap="square" lIns="0" tIns="0" rIns="0" bIns="0" rtlCol="0" anchor="ctr"/>
          <a:lstStyle/>
          <a:p>
            <a:pPr marL="0" indent="0" algn="ctr">
              <a:buNone/>
            </a:pPr>
            <a:r>
              <a:rPr lang="en-US" sz="2000" dirty="0">
                <a:solidFill>
                  <a:srgbClr val="1A2A4A"/>
                </a:solidFill>
              </a:rPr>
              <a:t>🗂</a:t>
            </a:r>
            <a:endParaRPr lang="en-US" sz="2000" dirty="0"/>
          </a:p>
        </p:txBody>
      </p:sp>
      <p:sp>
        <p:nvSpPr>
          <p:cNvPr id="7" name="Text 5"/>
          <p:cNvSpPr/>
          <p:nvPr/>
        </p:nvSpPr>
        <p:spPr>
          <a:xfrm>
            <a:off x="1578543" y="1257300"/>
            <a:ext cx="2971800" cy="347472"/>
          </a:xfrm>
          <a:prstGeom prst="rect">
            <a:avLst/>
          </a:prstGeom>
          <a:noFill/>
          <a:ln/>
        </p:spPr>
        <p:txBody>
          <a:bodyPr wrap="square" lIns="0" tIns="0" rIns="0" bIns="0" rtlCol="0" anchor="ctr"/>
          <a:lstStyle/>
          <a:p>
            <a:pPr marL="0" indent="0">
              <a:buNone/>
            </a:pPr>
            <a:r>
              <a:rPr lang="en-US" sz="1300" b="1" dirty="0">
                <a:solidFill>
                  <a:srgbClr val="1A2A4A"/>
                </a:solidFill>
                <a:latin typeface="Cambria" pitchFamily="34" charset="0"/>
                <a:ea typeface="Cambria" pitchFamily="34" charset="-122"/>
                <a:cs typeface="Cambria" pitchFamily="34" charset="-120"/>
              </a:rPr>
              <a:t>Mask Overlays</a:t>
            </a:r>
            <a:endParaRPr lang="en-US" sz="1300" dirty="0"/>
          </a:p>
        </p:txBody>
      </p:sp>
      <p:sp>
        <p:nvSpPr>
          <p:cNvPr id="8" name="Text 6"/>
          <p:cNvSpPr/>
          <p:nvPr/>
        </p:nvSpPr>
        <p:spPr>
          <a:xfrm>
            <a:off x="1578543" y="1650492"/>
            <a:ext cx="2971800" cy="1005840"/>
          </a:xfrm>
          <a:prstGeom prst="rect">
            <a:avLst/>
          </a:prstGeom>
          <a:noFill/>
          <a:ln/>
        </p:spPr>
        <p:txBody>
          <a:bodyPr wrap="square" lIns="0" tIns="0" rIns="0" bIns="0" rtlCol="0" anchor="t"/>
          <a:lstStyle/>
          <a:p>
            <a:pPr marL="0" indent="0">
              <a:buNone/>
            </a:pPr>
            <a:r>
              <a:rPr lang="en-US" sz="1100" dirty="0">
                <a:solidFill>
                  <a:srgbClr val="6B7A8D"/>
                </a:solidFill>
                <a:latin typeface="Calibri" pitchFamily="34" charset="0"/>
                <a:ea typeface="Calibri" pitchFamily="34" charset="-122"/>
                <a:cs typeface="Calibri" pitchFamily="34" charset="-120"/>
              </a:rPr>
              <a:t>Per-image .tif masks with background / tissue / deposition labels for visual QC</a:t>
            </a:r>
            <a:endParaRPr lang="en-US" sz="1100" dirty="0"/>
          </a:p>
        </p:txBody>
      </p:sp>
      <p:sp>
        <p:nvSpPr>
          <p:cNvPr id="9" name="Shape 7"/>
          <p:cNvSpPr/>
          <p:nvPr/>
        </p:nvSpPr>
        <p:spPr>
          <a:xfrm>
            <a:off x="5007543" y="1028700"/>
            <a:ext cx="3977640" cy="1828800"/>
          </a:xfrm>
          <a:prstGeom prst="roundRect">
            <a:avLst>
              <a:gd name="adj" fmla="val 4000"/>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10" name="Shape 8"/>
          <p:cNvSpPr/>
          <p:nvPr/>
        </p:nvSpPr>
        <p:spPr>
          <a:xfrm>
            <a:off x="5190423" y="1257300"/>
            <a:ext cx="685800" cy="685800"/>
          </a:xfrm>
          <a:prstGeom prst="ellipse">
            <a:avLst/>
          </a:prstGeom>
          <a:solidFill>
            <a:srgbClr val="D4892A">
              <a:alpha val="75000"/>
            </a:srgbClr>
          </a:solidFill>
          <a:ln w="12700">
            <a:solidFill>
              <a:srgbClr val="D4892A"/>
            </a:solidFill>
            <a:prstDash val="solid"/>
          </a:ln>
        </p:spPr>
        <p:txBody>
          <a:bodyPr/>
          <a:lstStyle/>
          <a:p>
            <a:endParaRPr lang="en-US"/>
          </a:p>
        </p:txBody>
      </p:sp>
      <p:sp>
        <p:nvSpPr>
          <p:cNvPr id="11" name="Text 9"/>
          <p:cNvSpPr/>
          <p:nvPr/>
        </p:nvSpPr>
        <p:spPr>
          <a:xfrm>
            <a:off x="5190423" y="1257300"/>
            <a:ext cx="685800" cy="685800"/>
          </a:xfrm>
          <a:prstGeom prst="rect">
            <a:avLst/>
          </a:prstGeom>
          <a:noFill/>
          <a:ln/>
        </p:spPr>
        <p:txBody>
          <a:bodyPr wrap="square" lIns="0" tIns="0" rIns="0" bIns="0" rtlCol="0" anchor="ctr"/>
          <a:lstStyle/>
          <a:p>
            <a:pPr marL="0" indent="0" algn="ctr">
              <a:buNone/>
            </a:pPr>
            <a:r>
              <a:rPr lang="en-US" sz="2000" dirty="0">
                <a:solidFill>
                  <a:srgbClr val="1A2A4A"/>
                </a:solidFill>
              </a:rPr>
              <a:t>📊</a:t>
            </a:r>
            <a:endParaRPr lang="en-US" sz="2000" dirty="0"/>
          </a:p>
        </p:txBody>
      </p:sp>
      <p:sp>
        <p:nvSpPr>
          <p:cNvPr id="12" name="Text 10"/>
          <p:cNvSpPr/>
          <p:nvPr/>
        </p:nvSpPr>
        <p:spPr>
          <a:xfrm>
            <a:off x="6013383" y="1257300"/>
            <a:ext cx="2971800" cy="347472"/>
          </a:xfrm>
          <a:prstGeom prst="rect">
            <a:avLst/>
          </a:prstGeom>
          <a:noFill/>
          <a:ln/>
        </p:spPr>
        <p:txBody>
          <a:bodyPr wrap="square" lIns="0" tIns="0" rIns="0" bIns="0" rtlCol="0" anchor="ctr"/>
          <a:lstStyle/>
          <a:p>
            <a:pPr marL="0" indent="0">
              <a:buNone/>
            </a:pPr>
            <a:r>
              <a:rPr lang="en-US" sz="1300" b="1" dirty="0">
                <a:solidFill>
                  <a:srgbClr val="D4892A"/>
                </a:solidFill>
                <a:latin typeface="Cambria" pitchFamily="34" charset="0"/>
                <a:ea typeface="Cambria" pitchFamily="34" charset="-122"/>
                <a:cs typeface="Cambria" pitchFamily="34" charset="-120"/>
              </a:rPr>
              <a:t>Deposition Heatmap</a:t>
            </a:r>
            <a:endParaRPr lang="en-US" sz="1300" dirty="0"/>
          </a:p>
        </p:txBody>
      </p:sp>
      <p:sp>
        <p:nvSpPr>
          <p:cNvPr id="13" name="Text 11"/>
          <p:cNvSpPr/>
          <p:nvPr/>
        </p:nvSpPr>
        <p:spPr>
          <a:xfrm>
            <a:off x="6013383" y="1650492"/>
            <a:ext cx="2971800" cy="1005840"/>
          </a:xfrm>
          <a:prstGeom prst="rect">
            <a:avLst/>
          </a:prstGeom>
          <a:noFill/>
          <a:ln/>
        </p:spPr>
        <p:txBody>
          <a:bodyPr wrap="square" lIns="0" tIns="0" rIns="0" bIns="0" rtlCol="0" anchor="t"/>
          <a:lstStyle/>
          <a:p>
            <a:pPr marL="0" indent="0">
              <a:buNone/>
            </a:pPr>
            <a:r>
              <a:rPr lang="en-US" sz="1100" dirty="0">
                <a:solidFill>
                  <a:srgbClr val="6B7A8D"/>
                </a:solidFill>
                <a:latin typeface="Calibri" pitchFamily="34" charset="0"/>
                <a:ea typeface="Calibri" pitchFamily="34" charset="-122"/>
                <a:cs typeface="Calibri" pitchFamily="34" charset="-120"/>
              </a:rPr>
              <a:t>% deposition per brain region visualised across all samples and groups</a:t>
            </a:r>
            <a:endParaRPr lang="en-US" sz="1100" dirty="0"/>
          </a:p>
        </p:txBody>
      </p:sp>
      <p:sp>
        <p:nvSpPr>
          <p:cNvPr id="14" name="Shape 12"/>
          <p:cNvSpPr/>
          <p:nvPr/>
        </p:nvSpPr>
        <p:spPr>
          <a:xfrm>
            <a:off x="572703" y="3040380"/>
            <a:ext cx="4160520" cy="1828800"/>
          </a:xfrm>
          <a:prstGeom prst="roundRect">
            <a:avLst>
              <a:gd name="adj" fmla="val 4000"/>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15" name="Shape 13"/>
          <p:cNvSpPr/>
          <p:nvPr/>
        </p:nvSpPr>
        <p:spPr>
          <a:xfrm>
            <a:off x="755583" y="3268980"/>
            <a:ext cx="685800" cy="685800"/>
          </a:xfrm>
          <a:prstGeom prst="ellipse">
            <a:avLst/>
          </a:prstGeom>
          <a:solidFill>
            <a:srgbClr val="2E6DA4">
              <a:alpha val="75000"/>
            </a:srgbClr>
          </a:solidFill>
          <a:ln w="12700">
            <a:solidFill>
              <a:srgbClr val="2E6DA4"/>
            </a:solidFill>
            <a:prstDash val="solid"/>
          </a:ln>
        </p:spPr>
        <p:txBody>
          <a:bodyPr/>
          <a:lstStyle/>
          <a:p>
            <a:endParaRPr lang="en-US"/>
          </a:p>
        </p:txBody>
      </p:sp>
      <p:sp>
        <p:nvSpPr>
          <p:cNvPr id="16" name="Text 14"/>
          <p:cNvSpPr/>
          <p:nvPr/>
        </p:nvSpPr>
        <p:spPr>
          <a:xfrm>
            <a:off x="755583" y="3268980"/>
            <a:ext cx="685800" cy="685800"/>
          </a:xfrm>
          <a:prstGeom prst="rect">
            <a:avLst/>
          </a:prstGeom>
          <a:noFill/>
          <a:ln/>
        </p:spPr>
        <p:txBody>
          <a:bodyPr wrap="square" lIns="0" tIns="0" rIns="0" bIns="0" rtlCol="0" anchor="ctr"/>
          <a:lstStyle/>
          <a:p>
            <a:pPr marL="0" indent="0" algn="ctr">
              <a:buNone/>
            </a:pPr>
            <a:r>
              <a:rPr lang="en-US" sz="2000" dirty="0">
                <a:solidFill>
                  <a:srgbClr val="1A2A4A"/>
                </a:solidFill>
              </a:rPr>
              <a:t>📦</a:t>
            </a:r>
            <a:endParaRPr lang="en-US" sz="2000" dirty="0"/>
          </a:p>
        </p:txBody>
      </p:sp>
      <p:sp>
        <p:nvSpPr>
          <p:cNvPr id="17" name="Text 15"/>
          <p:cNvSpPr/>
          <p:nvPr/>
        </p:nvSpPr>
        <p:spPr>
          <a:xfrm>
            <a:off x="1578543" y="3268980"/>
            <a:ext cx="2971800" cy="347472"/>
          </a:xfrm>
          <a:prstGeom prst="rect">
            <a:avLst/>
          </a:prstGeom>
          <a:noFill/>
          <a:ln/>
        </p:spPr>
        <p:txBody>
          <a:bodyPr wrap="square" lIns="0" tIns="0" rIns="0" bIns="0" rtlCol="0" anchor="ctr"/>
          <a:lstStyle/>
          <a:p>
            <a:pPr marL="0" indent="0">
              <a:buNone/>
            </a:pPr>
            <a:r>
              <a:rPr lang="en-US" sz="1300" b="1" dirty="0">
                <a:solidFill>
                  <a:srgbClr val="2E6DA4"/>
                </a:solidFill>
                <a:latin typeface="Cambria" pitchFamily="34" charset="0"/>
                <a:ea typeface="Cambria" pitchFamily="34" charset="-122"/>
                <a:cs typeface="Cambria" pitchFamily="34" charset="-120"/>
              </a:rPr>
              <a:t>Boxplots per Region</a:t>
            </a:r>
            <a:endParaRPr lang="en-US" sz="1300" dirty="0"/>
          </a:p>
        </p:txBody>
      </p:sp>
      <p:sp>
        <p:nvSpPr>
          <p:cNvPr id="18" name="Text 16"/>
          <p:cNvSpPr/>
          <p:nvPr/>
        </p:nvSpPr>
        <p:spPr>
          <a:xfrm>
            <a:off x="1578543" y="3662172"/>
            <a:ext cx="2971800" cy="1005840"/>
          </a:xfrm>
          <a:prstGeom prst="rect">
            <a:avLst/>
          </a:prstGeom>
          <a:noFill/>
          <a:ln/>
        </p:spPr>
        <p:txBody>
          <a:bodyPr wrap="square" lIns="0" tIns="0" rIns="0" bIns="0" rtlCol="0" anchor="t"/>
          <a:lstStyle/>
          <a:p>
            <a:pPr marL="0" indent="0">
              <a:buNone/>
            </a:pPr>
            <a:r>
              <a:rPr lang="en-US" sz="1100" dirty="0">
                <a:solidFill>
                  <a:srgbClr val="6B7A8D"/>
                </a:solidFill>
                <a:latin typeface="Calibri" pitchFamily="34" charset="0"/>
                <a:ea typeface="Calibri" pitchFamily="34" charset="-122"/>
                <a:cs typeface="Calibri" pitchFamily="34" charset="-120"/>
              </a:rPr>
              <a:t>Distribution of deposition fraction per brain region, faceted by treatment group</a:t>
            </a:r>
            <a:endParaRPr lang="en-US" sz="1100" dirty="0"/>
          </a:p>
        </p:txBody>
      </p:sp>
      <p:sp>
        <p:nvSpPr>
          <p:cNvPr id="19" name="Shape 17"/>
          <p:cNvSpPr/>
          <p:nvPr/>
        </p:nvSpPr>
        <p:spPr>
          <a:xfrm>
            <a:off x="5007543" y="3040380"/>
            <a:ext cx="3977640" cy="1828800"/>
          </a:xfrm>
          <a:prstGeom prst="roundRect">
            <a:avLst>
              <a:gd name="adj" fmla="val 4000"/>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20" name="Shape 18"/>
          <p:cNvSpPr/>
          <p:nvPr/>
        </p:nvSpPr>
        <p:spPr>
          <a:xfrm>
            <a:off x="5190423" y="3268980"/>
            <a:ext cx="685800" cy="685800"/>
          </a:xfrm>
          <a:prstGeom prst="ellipse">
            <a:avLst/>
          </a:prstGeom>
          <a:solidFill>
            <a:srgbClr val="2E8A5A">
              <a:alpha val="75000"/>
            </a:srgbClr>
          </a:solidFill>
          <a:ln w="12700">
            <a:solidFill>
              <a:srgbClr val="2E8A5A"/>
            </a:solidFill>
            <a:prstDash val="solid"/>
          </a:ln>
        </p:spPr>
        <p:txBody>
          <a:bodyPr/>
          <a:lstStyle/>
          <a:p>
            <a:endParaRPr lang="en-US"/>
          </a:p>
        </p:txBody>
      </p:sp>
      <p:sp>
        <p:nvSpPr>
          <p:cNvPr id="21" name="Text 19"/>
          <p:cNvSpPr/>
          <p:nvPr/>
        </p:nvSpPr>
        <p:spPr>
          <a:xfrm>
            <a:off x="5190423" y="3268980"/>
            <a:ext cx="685800" cy="685800"/>
          </a:xfrm>
          <a:prstGeom prst="rect">
            <a:avLst/>
          </a:prstGeom>
          <a:noFill/>
          <a:ln/>
        </p:spPr>
        <p:txBody>
          <a:bodyPr wrap="square" lIns="0" tIns="0" rIns="0" bIns="0" rtlCol="0" anchor="ctr"/>
          <a:lstStyle/>
          <a:p>
            <a:pPr marL="0" indent="0" algn="ctr">
              <a:buNone/>
            </a:pPr>
            <a:r>
              <a:rPr lang="en-US" sz="2000" dirty="0">
                <a:solidFill>
                  <a:srgbClr val="1A2A4A"/>
                </a:solidFill>
              </a:rPr>
              <a:t>📋</a:t>
            </a:r>
            <a:endParaRPr lang="en-US" sz="2000" dirty="0"/>
          </a:p>
        </p:txBody>
      </p:sp>
      <p:sp>
        <p:nvSpPr>
          <p:cNvPr id="22" name="Text 20"/>
          <p:cNvSpPr/>
          <p:nvPr/>
        </p:nvSpPr>
        <p:spPr>
          <a:xfrm>
            <a:off x="6013383" y="3268980"/>
            <a:ext cx="2971800" cy="347472"/>
          </a:xfrm>
          <a:prstGeom prst="rect">
            <a:avLst/>
          </a:prstGeom>
          <a:noFill/>
          <a:ln/>
        </p:spPr>
        <p:txBody>
          <a:bodyPr wrap="square" lIns="0" tIns="0" rIns="0" bIns="0" rtlCol="0" anchor="ctr"/>
          <a:lstStyle/>
          <a:p>
            <a:pPr marL="0" indent="0">
              <a:buNone/>
            </a:pPr>
            <a:r>
              <a:rPr lang="en-US" sz="1300" b="1" dirty="0">
                <a:solidFill>
                  <a:srgbClr val="2E8A5A"/>
                </a:solidFill>
                <a:latin typeface="Cambria" pitchFamily="34" charset="0"/>
                <a:ea typeface="Cambria" pitchFamily="34" charset="-122"/>
                <a:cs typeface="Cambria" pitchFamily="34" charset="-120"/>
              </a:rPr>
              <a:t>Summary Table</a:t>
            </a:r>
            <a:endParaRPr lang="en-US" sz="1300" dirty="0"/>
          </a:p>
        </p:txBody>
      </p:sp>
      <p:sp>
        <p:nvSpPr>
          <p:cNvPr id="23" name="Text 21"/>
          <p:cNvSpPr/>
          <p:nvPr/>
        </p:nvSpPr>
        <p:spPr>
          <a:xfrm>
            <a:off x="6013383" y="3662172"/>
            <a:ext cx="2971800" cy="1005840"/>
          </a:xfrm>
          <a:prstGeom prst="rect">
            <a:avLst/>
          </a:prstGeom>
          <a:noFill/>
          <a:ln/>
        </p:spPr>
        <p:txBody>
          <a:bodyPr wrap="square" lIns="0" tIns="0" rIns="0" bIns="0" rtlCol="0" anchor="t"/>
          <a:lstStyle/>
          <a:p>
            <a:pPr marL="0" indent="0">
              <a:buNone/>
            </a:pPr>
            <a:r>
              <a:rPr lang="en-US" sz="1100" dirty="0">
                <a:solidFill>
                  <a:srgbClr val="6B7A8D"/>
                </a:solidFill>
                <a:latin typeface="Calibri" pitchFamily="34" charset="0"/>
                <a:ea typeface="Calibri" pitchFamily="34" charset="-122"/>
                <a:cs typeface="Calibri" pitchFamily="34" charset="-120"/>
              </a:rPr>
              <a:t>Tidy per-image dataframe: metadata + pixel counts + deposition_frac, ready for stats</a:t>
            </a:r>
            <a:endParaRPr lang="en-US" sz="1100" dirty="0"/>
          </a:p>
        </p:txBody>
      </p:sp>
    </p:spTree>
    <p:extLst>
      <p:ext uri="{BB962C8B-B14F-4D97-AF65-F5344CB8AC3E}">
        <p14:creationId xmlns:p14="http://schemas.microsoft.com/office/powerpoint/2010/main" val="36534225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06324"/>
            <a:ext cx="8229600" cy="502920"/>
          </a:xfrm>
          <a:prstGeom prst="rect">
            <a:avLst/>
          </a:prstGeom>
          <a:noFill/>
          <a:ln/>
        </p:spPr>
        <p:txBody>
          <a:bodyPr wrap="square" lIns="0" tIns="0" rIns="0" bIns="0" rtlCol="0" anchor="ctr"/>
          <a:lstStyle/>
          <a:p>
            <a:pPr marL="0" indent="0" algn="l">
              <a:buNone/>
            </a:pPr>
            <a:r>
              <a:rPr lang="en-US" sz="3000" b="1" dirty="0">
                <a:solidFill>
                  <a:srgbClr val="1A2A4A"/>
                </a:solidFill>
                <a:latin typeface="Cambria" pitchFamily="34" charset="0"/>
                <a:ea typeface="Cambria" pitchFamily="34" charset="-122"/>
                <a:cs typeface="Cambria" pitchFamily="34" charset="-120"/>
              </a:rPr>
              <a:t>Biological Interpretability</a:t>
            </a:r>
            <a:endParaRPr lang="en-US" sz="3000" dirty="0"/>
          </a:p>
        </p:txBody>
      </p:sp>
      <p:sp>
        <p:nvSpPr>
          <p:cNvPr id="3" name="Shape 1"/>
          <p:cNvSpPr/>
          <p:nvPr/>
        </p:nvSpPr>
        <p:spPr>
          <a:xfrm>
            <a:off x="457200" y="859536"/>
            <a:ext cx="8229600" cy="18288"/>
          </a:xfrm>
          <a:prstGeom prst="ellipse">
            <a:avLst/>
          </a:prstGeom>
          <a:solidFill>
            <a:srgbClr val="EDF2FA"/>
          </a:solidFill>
          <a:ln w="12700">
            <a:solidFill>
              <a:srgbClr val="EDF2FA"/>
            </a:solidFill>
            <a:prstDash val="solid"/>
          </a:ln>
        </p:spPr>
        <p:txBody>
          <a:bodyPr/>
          <a:lstStyle/>
          <a:p>
            <a:endParaRPr lang="en-US"/>
          </a:p>
        </p:txBody>
      </p:sp>
      <p:sp>
        <p:nvSpPr>
          <p:cNvPr id="4" name="Shape 2"/>
          <p:cNvSpPr/>
          <p:nvPr/>
        </p:nvSpPr>
        <p:spPr>
          <a:xfrm>
            <a:off x="685800" y="1005840"/>
            <a:ext cx="3749040" cy="3840480"/>
          </a:xfrm>
          <a:prstGeom prst="roundRect">
            <a:avLst>
              <a:gd name="adj" fmla="val 1905"/>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5" name="Text 3"/>
          <p:cNvSpPr/>
          <p:nvPr/>
        </p:nvSpPr>
        <p:spPr>
          <a:xfrm>
            <a:off x="960122" y="1143000"/>
            <a:ext cx="3749040" cy="347472"/>
          </a:xfrm>
          <a:prstGeom prst="rect">
            <a:avLst/>
          </a:prstGeom>
          <a:noFill/>
          <a:ln/>
        </p:spPr>
        <p:txBody>
          <a:bodyPr wrap="square" lIns="0" tIns="0" rIns="0" bIns="0" rtlCol="0" anchor="ctr"/>
          <a:lstStyle/>
          <a:p>
            <a:pPr marL="0" indent="0">
              <a:buNone/>
            </a:pPr>
            <a:r>
              <a:rPr lang="en-US" sz="1400" b="1" dirty="0">
                <a:solidFill>
                  <a:srgbClr val="1A2A4A"/>
                </a:solidFill>
                <a:latin typeface="Cambria" pitchFamily="34" charset="0"/>
                <a:ea typeface="Cambria" pitchFamily="34" charset="-122"/>
                <a:cs typeface="Cambria" pitchFamily="34" charset="-120"/>
              </a:rPr>
              <a:t>What we quantify</a:t>
            </a:r>
            <a:endParaRPr lang="en-US" sz="1400" dirty="0"/>
          </a:p>
        </p:txBody>
      </p:sp>
      <p:sp>
        <p:nvSpPr>
          <p:cNvPr id="6" name="Text 4"/>
          <p:cNvSpPr/>
          <p:nvPr/>
        </p:nvSpPr>
        <p:spPr>
          <a:xfrm>
            <a:off x="813816" y="1554480"/>
            <a:ext cx="3438144" cy="3017520"/>
          </a:xfrm>
          <a:prstGeom prst="rect">
            <a:avLst/>
          </a:prstGeom>
          <a:noFill/>
          <a:ln/>
        </p:spPr>
        <p:txBody>
          <a:bodyPr wrap="square" lIns="76200" tIns="76200" rIns="76200" bIns="76200" rtlCol="0" anchor="t"/>
          <a:lstStyle/>
          <a:p>
            <a:pPr marL="342900" indent="-342900">
              <a:spcAft>
                <a:spcPts val="800"/>
              </a:spcAft>
              <a:buSzPct val="100000"/>
              <a:buChar char="•"/>
            </a:pPr>
            <a:r>
              <a:rPr lang="en-US" sz="1150" dirty="0">
                <a:solidFill>
                  <a:srgbClr val="6B7A8D"/>
                </a:solidFill>
                <a:latin typeface="Calibri" pitchFamily="34" charset="0"/>
              </a:rPr>
              <a:t>PrP deposition density per image</a:t>
            </a:r>
          </a:p>
          <a:p>
            <a:pPr marL="342900" indent="-342900">
              <a:spcAft>
                <a:spcPts val="800"/>
              </a:spcAft>
              <a:buSzPct val="100000"/>
              <a:buChar char="•"/>
            </a:pPr>
            <a:r>
              <a:rPr lang="en-US" sz="1150" dirty="0">
                <a:solidFill>
                  <a:srgbClr val="6B7A8D"/>
                </a:solidFill>
                <a:latin typeface="Calibri" pitchFamily="34" charset="0"/>
              </a:rPr>
              <a:t>Regional enrichment by brain structure</a:t>
            </a:r>
          </a:p>
          <a:p>
            <a:pPr marL="342900" indent="-342900">
              <a:spcAft>
                <a:spcPts val="800"/>
              </a:spcAft>
              <a:buSzPct val="100000"/>
              <a:buChar char="•"/>
            </a:pPr>
            <a:r>
              <a:rPr lang="en-US" sz="1150" dirty="0">
                <a:solidFill>
                  <a:srgbClr val="6B7A8D"/>
                </a:solidFill>
                <a:latin typeface="Calibri" pitchFamily="34" charset="0"/>
              </a:rPr>
              <a:t>Treatment group comparisons via deposition_frac</a:t>
            </a:r>
          </a:p>
        </p:txBody>
      </p:sp>
      <p:sp>
        <p:nvSpPr>
          <p:cNvPr id="7" name="Shape 5"/>
          <p:cNvSpPr/>
          <p:nvPr/>
        </p:nvSpPr>
        <p:spPr>
          <a:xfrm>
            <a:off x="4617720" y="1005840"/>
            <a:ext cx="4206240" cy="3840480"/>
          </a:xfrm>
          <a:prstGeom prst="roundRect">
            <a:avLst>
              <a:gd name="adj" fmla="val 1905"/>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dirty="0"/>
          </a:p>
        </p:txBody>
      </p:sp>
      <p:sp>
        <p:nvSpPr>
          <p:cNvPr id="8" name="Text 6"/>
          <p:cNvSpPr/>
          <p:nvPr/>
        </p:nvSpPr>
        <p:spPr>
          <a:xfrm>
            <a:off x="4800600" y="1097280"/>
            <a:ext cx="3840480" cy="347472"/>
          </a:xfrm>
          <a:prstGeom prst="rect">
            <a:avLst/>
          </a:prstGeom>
          <a:noFill/>
          <a:ln/>
        </p:spPr>
        <p:txBody>
          <a:bodyPr wrap="square" lIns="0" tIns="0" rIns="0" bIns="0" rtlCol="0" anchor="ctr"/>
          <a:lstStyle/>
          <a:p>
            <a:pPr marL="0" indent="0">
              <a:buNone/>
            </a:pPr>
            <a:r>
              <a:rPr lang="en-US" sz="1400" b="1" dirty="0">
                <a:solidFill>
                  <a:srgbClr val="1A2A4A"/>
                </a:solidFill>
                <a:latin typeface="Cambria" pitchFamily="34" charset="0"/>
                <a:ea typeface="Cambria" pitchFamily="34" charset="-122"/>
                <a:cs typeface="Cambria" pitchFamily="34" charset="-120"/>
              </a:rPr>
              <a:t>Biological insights enabled</a:t>
            </a:r>
            <a:endParaRPr lang="en-US" sz="1400" dirty="0"/>
          </a:p>
        </p:txBody>
      </p:sp>
      <p:sp>
        <p:nvSpPr>
          <p:cNvPr id="9" name="Shape 7"/>
          <p:cNvSpPr/>
          <p:nvPr/>
        </p:nvSpPr>
        <p:spPr>
          <a:xfrm>
            <a:off x="4800600" y="1673352"/>
            <a:ext cx="36576" cy="457200"/>
          </a:xfrm>
          <a:prstGeom prst="rect">
            <a:avLst/>
          </a:prstGeom>
          <a:solidFill>
            <a:srgbClr val="2E6DA4"/>
          </a:solidFill>
          <a:ln w="12700">
            <a:solidFill>
              <a:srgbClr val="2E6DA4"/>
            </a:solidFill>
            <a:prstDash val="solid"/>
          </a:ln>
        </p:spPr>
        <p:txBody>
          <a:bodyPr/>
          <a:lstStyle/>
          <a:p>
            <a:endParaRPr lang="en-US"/>
          </a:p>
        </p:txBody>
      </p:sp>
      <p:sp>
        <p:nvSpPr>
          <p:cNvPr id="10" name="Text 8"/>
          <p:cNvSpPr/>
          <p:nvPr/>
        </p:nvSpPr>
        <p:spPr>
          <a:xfrm>
            <a:off x="4956048" y="1600200"/>
            <a:ext cx="3657600" cy="274320"/>
          </a:xfrm>
          <a:prstGeom prst="rect">
            <a:avLst/>
          </a:prstGeom>
          <a:noFill/>
          <a:ln/>
        </p:spPr>
        <p:txBody>
          <a:bodyPr wrap="square" lIns="0" tIns="0" rIns="0" bIns="0" rtlCol="0" anchor="ctr"/>
          <a:lstStyle/>
          <a:p>
            <a:pPr marL="0" indent="0">
              <a:buNone/>
            </a:pPr>
            <a:r>
              <a:rPr lang="en-US" sz="1200" b="1" dirty="0">
                <a:solidFill>
                  <a:srgbClr val="1A2A4A"/>
                </a:solidFill>
                <a:latin typeface="Cambria" pitchFamily="34" charset="0"/>
                <a:ea typeface="Cambria" pitchFamily="34" charset="-122"/>
                <a:cs typeface="Cambria" pitchFamily="34" charset="-120"/>
              </a:rPr>
              <a:t>Regional vulnerability</a:t>
            </a:r>
            <a:endParaRPr lang="en-US" sz="1200" dirty="0"/>
          </a:p>
        </p:txBody>
      </p:sp>
      <p:sp>
        <p:nvSpPr>
          <p:cNvPr id="11" name="Text 9"/>
          <p:cNvSpPr/>
          <p:nvPr/>
        </p:nvSpPr>
        <p:spPr>
          <a:xfrm>
            <a:off x="4956048" y="1892808"/>
            <a:ext cx="3657600" cy="45720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rPr>
              <a:t>Map brain regions with highest PrP accumulation</a:t>
            </a:r>
          </a:p>
        </p:txBody>
      </p:sp>
      <p:sp>
        <p:nvSpPr>
          <p:cNvPr id="12" name="Shape 10"/>
          <p:cNvSpPr/>
          <p:nvPr/>
        </p:nvSpPr>
        <p:spPr>
          <a:xfrm>
            <a:off x="4800600" y="2542032"/>
            <a:ext cx="36576" cy="457200"/>
          </a:xfrm>
          <a:prstGeom prst="rect">
            <a:avLst/>
          </a:prstGeom>
          <a:solidFill>
            <a:srgbClr val="2E6DA4"/>
          </a:solidFill>
          <a:ln w="12700">
            <a:solidFill>
              <a:srgbClr val="2E6DA4"/>
            </a:solidFill>
            <a:prstDash val="solid"/>
          </a:ln>
        </p:spPr>
        <p:txBody>
          <a:bodyPr/>
          <a:lstStyle/>
          <a:p>
            <a:endParaRPr lang="en-US"/>
          </a:p>
        </p:txBody>
      </p:sp>
      <p:sp>
        <p:nvSpPr>
          <p:cNvPr id="18" name="Shape 16"/>
          <p:cNvSpPr/>
          <p:nvPr/>
        </p:nvSpPr>
        <p:spPr>
          <a:xfrm>
            <a:off x="4807819" y="3465576"/>
            <a:ext cx="45719" cy="457200"/>
          </a:xfrm>
          <a:prstGeom prst="rect">
            <a:avLst/>
          </a:prstGeom>
          <a:solidFill>
            <a:srgbClr val="2E6DA4"/>
          </a:solidFill>
          <a:ln w="12700">
            <a:solidFill>
              <a:srgbClr val="2E6DA4"/>
            </a:solidFill>
            <a:prstDash val="solid"/>
          </a:ln>
        </p:spPr>
        <p:txBody>
          <a:bodyPr/>
          <a:lstStyle/>
          <a:p>
            <a:endParaRPr lang="en-US"/>
          </a:p>
        </p:txBody>
      </p:sp>
      <p:sp>
        <p:nvSpPr>
          <p:cNvPr id="19" name="Text 17"/>
          <p:cNvSpPr/>
          <p:nvPr/>
        </p:nvSpPr>
        <p:spPr>
          <a:xfrm>
            <a:off x="4956048" y="3374136"/>
            <a:ext cx="3657600" cy="274320"/>
          </a:xfrm>
          <a:prstGeom prst="rect">
            <a:avLst/>
          </a:prstGeom>
          <a:noFill/>
          <a:ln/>
        </p:spPr>
        <p:txBody>
          <a:bodyPr wrap="square" lIns="0" tIns="0" rIns="0" bIns="0" rtlCol="0" anchor="ctr"/>
          <a:lstStyle/>
          <a:p>
            <a:pPr marL="0" indent="0">
              <a:buNone/>
            </a:pPr>
            <a:r>
              <a:rPr lang="en-US" sz="1200" b="1" dirty="0">
                <a:solidFill>
                  <a:srgbClr val="1A2A4A"/>
                </a:solidFill>
                <a:latin typeface="Cambria" pitchFamily="34" charset="0"/>
                <a:ea typeface="Cambria" pitchFamily="34" charset="-122"/>
                <a:cs typeface="Cambria" pitchFamily="34" charset="-120"/>
              </a:rPr>
              <a:t>Reproducible pathology</a:t>
            </a:r>
            <a:endParaRPr lang="en-US" sz="1200" dirty="0"/>
          </a:p>
        </p:txBody>
      </p:sp>
      <p:sp>
        <p:nvSpPr>
          <p:cNvPr id="20" name="Text 18"/>
          <p:cNvSpPr/>
          <p:nvPr/>
        </p:nvSpPr>
        <p:spPr>
          <a:xfrm>
            <a:off x="4956048" y="3630168"/>
            <a:ext cx="3657600" cy="45720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rPr>
              <a:t>Objective, auditable pixel counts replace subjective scoring</a:t>
            </a:r>
          </a:p>
        </p:txBody>
      </p:sp>
      <p:sp>
        <p:nvSpPr>
          <p:cNvPr id="21" name="Text 9">
            <a:extLst>
              <a:ext uri="{FF2B5EF4-FFF2-40B4-BE49-F238E27FC236}">
                <a16:creationId xmlns:a16="http://schemas.microsoft.com/office/drawing/2014/main" id="{C4D0B1D3-9160-A160-C8E3-71B708C969B1}"/>
              </a:ext>
            </a:extLst>
          </p:cNvPr>
          <p:cNvSpPr/>
          <p:nvPr/>
        </p:nvSpPr>
        <p:spPr>
          <a:xfrm>
            <a:off x="4956048" y="2615184"/>
            <a:ext cx="3657600" cy="457200"/>
          </a:xfrm>
          <a:prstGeom prst="rect">
            <a:avLst/>
          </a:prstGeom>
          <a:noFill/>
          <a:ln/>
        </p:spPr>
        <p:txBody>
          <a:bodyPr wrap="square" lIns="0" tIns="0" rIns="0" bIns="0" rtlCol="0" anchor="ctr"/>
          <a:lstStyle/>
          <a:p>
            <a:pPr marL="0" indent="0">
              <a:buNone/>
            </a:pPr>
            <a:r>
              <a:rPr lang="en-US" sz="1100" dirty="0">
                <a:solidFill>
                  <a:srgbClr val="6B7A8D"/>
                </a:solidFill>
                <a:latin typeface="Calibri" pitchFamily="34" charset="0"/>
              </a:rPr>
              <a:t>Elk/deer treatment with highest PrP accumulation</a:t>
            </a:r>
          </a:p>
        </p:txBody>
      </p:sp>
      <p:sp>
        <p:nvSpPr>
          <p:cNvPr id="23" name="Text 8">
            <a:extLst>
              <a:ext uri="{FF2B5EF4-FFF2-40B4-BE49-F238E27FC236}">
                <a16:creationId xmlns:a16="http://schemas.microsoft.com/office/drawing/2014/main" id="{7853A652-7960-CF3A-DE0F-B8A1CFA37B84}"/>
              </a:ext>
            </a:extLst>
          </p:cNvPr>
          <p:cNvSpPr/>
          <p:nvPr/>
        </p:nvSpPr>
        <p:spPr>
          <a:xfrm>
            <a:off x="4956048" y="2468880"/>
            <a:ext cx="3657600" cy="274320"/>
          </a:xfrm>
          <a:prstGeom prst="rect">
            <a:avLst/>
          </a:prstGeom>
          <a:noFill/>
          <a:ln/>
        </p:spPr>
        <p:txBody>
          <a:bodyPr wrap="square" lIns="0" tIns="0" rIns="0" bIns="0" rtlCol="0" anchor="ctr"/>
          <a:lstStyle/>
          <a:p>
            <a:pPr marL="0" indent="0">
              <a:buNone/>
            </a:pPr>
            <a:r>
              <a:rPr lang="en-US" sz="1200" b="1" dirty="0">
                <a:solidFill>
                  <a:srgbClr val="1A2A4A"/>
                </a:solidFill>
                <a:latin typeface="Cambria" pitchFamily="34" charset="0"/>
                <a:ea typeface="Cambria" pitchFamily="34" charset="-122"/>
                <a:cs typeface="Cambria" pitchFamily="34" charset="-120"/>
              </a:rPr>
              <a:t>Treatment vulnerability</a:t>
            </a:r>
            <a:endParaRPr lang="en-US" sz="1200" dirty="0"/>
          </a:p>
        </p:txBody>
      </p:sp>
    </p:spTree>
    <p:extLst>
      <p:ext uri="{BB962C8B-B14F-4D97-AF65-F5344CB8AC3E}">
        <p14:creationId xmlns:p14="http://schemas.microsoft.com/office/powerpoint/2010/main" val="1915969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12648" y="301752"/>
            <a:ext cx="8229600" cy="502920"/>
          </a:xfrm>
          <a:prstGeom prst="rect">
            <a:avLst/>
          </a:prstGeom>
          <a:noFill/>
          <a:ln/>
        </p:spPr>
        <p:txBody>
          <a:bodyPr wrap="square" lIns="0" tIns="0" rIns="0" bIns="0" rtlCol="0" anchor="ctr"/>
          <a:lstStyle/>
          <a:p>
            <a:pPr marL="0" indent="0" algn="l">
              <a:buNone/>
            </a:pPr>
            <a:r>
              <a:rPr lang="en-US" sz="3000" b="1" dirty="0">
                <a:solidFill>
                  <a:srgbClr val="1A2A4A"/>
                </a:solidFill>
                <a:latin typeface="Cambria" pitchFamily="34" charset="0"/>
                <a:ea typeface="Cambria" pitchFamily="34" charset="-122"/>
                <a:cs typeface="Cambria" pitchFamily="34" charset="-120"/>
              </a:rPr>
              <a:t>Usability &amp; Reproducibility</a:t>
            </a:r>
            <a:endParaRPr lang="en-US" sz="3000" dirty="0"/>
          </a:p>
        </p:txBody>
      </p:sp>
      <p:sp>
        <p:nvSpPr>
          <p:cNvPr id="3" name="Shape 1"/>
          <p:cNvSpPr/>
          <p:nvPr/>
        </p:nvSpPr>
        <p:spPr>
          <a:xfrm>
            <a:off x="457200" y="859536"/>
            <a:ext cx="8229600" cy="18288"/>
          </a:xfrm>
          <a:prstGeom prst="ellipse">
            <a:avLst/>
          </a:prstGeom>
          <a:solidFill>
            <a:srgbClr val="EDF2FA"/>
          </a:solidFill>
          <a:ln w="12700">
            <a:solidFill>
              <a:srgbClr val="EDF2FA"/>
            </a:solidFill>
            <a:prstDash val="solid"/>
          </a:ln>
        </p:spPr>
        <p:txBody>
          <a:bodyPr/>
          <a:lstStyle/>
          <a:p>
            <a:endParaRPr lang="en-US"/>
          </a:p>
        </p:txBody>
      </p:sp>
      <p:sp>
        <p:nvSpPr>
          <p:cNvPr id="4" name="Shape 2"/>
          <p:cNvSpPr/>
          <p:nvPr/>
        </p:nvSpPr>
        <p:spPr>
          <a:xfrm>
            <a:off x="612648" y="1033272"/>
            <a:ext cx="4114800" cy="3840480"/>
          </a:xfrm>
          <a:prstGeom prst="roundRect">
            <a:avLst>
              <a:gd name="adj" fmla="val 1905"/>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5" name="Text 3"/>
          <p:cNvSpPr/>
          <p:nvPr/>
        </p:nvSpPr>
        <p:spPr>
          <a:xfrm>
            <a:off x="795528" y="1180057"/>
            <a:ext cx="3749040" cy="347472"/>
          </a:xfrm>
          <a:prstGeom prst="rect">
            <a:avLst/>
          </a:prstGeom>
          <a:noFill/>
          <a:ln/>
        </p:spPr>
        <p:txBody>
          <a:bodyPr wrap="square" lIns="0" tIns="0" rIns="0" bIns="0" rtlCol="0" anchor="ctr"/>
          <a:lstStyle/>
          <a:p>
            <a:pPr marL="0" indent="0">
              <a:buNone/>
            </a:pPr>
            <a:r>
              <a:rPr lang="en-US" sz="1400" b="1" dirty="0">
                <a:solidFill>
                  <a:srgbClr val="1A2A4A"/>
                </a:solidFill>
                <a:latin typeface="Cambria" pitchFamily="34" charset="0"/>
                <a:ea typeface="Cambria" pitchFamily="34" charset="-122"/>
                <a:cs typeface="Cambria" pitchFamily="34" charset="-120"/>
              </a:rPr>
              <a:t>Directory structure</a:t>
            </a:r>
            <a:endParaRPr lang="en-US" sz="1400" dirty="0"/>
          </a:p>
        </p:txBody>
      </p:sp>
      <p:sp>
        <p:nvSpPr>
          <p:cNvPr id="6" name="Text 4"/>
          <p:cNvSpPr/>
          <p:nvPr/>
        </p:nvSpPr>
        <p:spPr>
          <a:xfrm>
            <a:off x="795528" y="1572768"/>
            <a:ext cx="3749040" cy="256032"/>
          </a:xfrm>
          <a:prstGeom prst="rect">
            <a:avLst/>
          </a:prstGeom>
          <a:noFill/>
          <a:ln/>
        </p:spPr>
        <p:txBody>
          <a:bodyPr wrap="square" lIns="0" tIns="0" rIns="0" bIns="0" rtlCol="0" anchor="ctr"/>
          <a:lstStyle/>
          <a:p>
            <a:pPr marL="0" indent="0">
              <a:buNone/>
            </a:pPr>
            <a:r>
              <a:rPr lang="en-US" sz="1050" dirty="0">
                <a:solidFill>
                  <a:srgbClr val="1A2A4A"/>
                </a:solidFill>
                <a:latin typeface="Courier New" pitchFamily="34" charset="0"/>
                <a:ea typeface="Courier New" pitchFamily="34" charset="-122"/>
                <a:cs typeface="Courier New" pitchFamily="34" charset="-120"/>
              </a:rPr>
              <a:t>project/</a:t>
            </a:r>
            <a:endParaRPr lang="en-US" sz="1050" dirty="0"/>
          </a:p>
        </p:txBody>
      </p:sp>
      <p:sp>
        <p:nvSpPr>
          <p:cNvPr id="7" name="Text 5"/>
          <p:cNvSpPr/>
          <p:nvPr/>
        </p:nvSpPr>
        <p:spPr>
          <a:xfrm>
            <a:off x="946404" y="1856232"/>
            <a:ext cx="3749040" cy="256032"/>
          </a:xfrm>
          <a:prstGeom prst="rect">
            <a:avLst/>
          </a:prstGeom>
          <a:noFill/>
          <a:ln/>
        </p:spPr>
        <p:txBody>
          <a:bodyPr wrap="square" lIns="0" tIns="0" rIns="0" bIns="0" rtlCol="0" anchor="ctr"/>
          <a:lstStyle/>
          <a:p>
            <a:pPr marL="0" indent="0">
              <a:buNone/>
            </a:pPr>
            <a:r>
              <a:rPr lang="en-US" sz="1050" dirty="0">
                <a:solidFill>
                  <a:srgbClr val="D4892A"/>
                </a:solidFill>
                <a:latin typeface="Courier New" pitchFamily="34" charset="0"/>
                <a:ea typeface="Courier New" pitchFamily="34" charset="-122"/>
                <a:cs typeface="Courier New" pitchFamily="34" charset="-120"/>
              </a:rPr>
              <a:t>├── 00_test-input/</a:t>
            </a:r>
            <a:endParaRPr lang="en-US" sz="1050" dirty="0"/>
          </a:p>
        </p:txBody>
      </p:sp>
      <p:sp>
        <p:nvSpPr>
          <p:cNvPr id="8" name="Text 6"/>
          <p:cNvSpPr/>
          <p:nvPr/>
        </p:nvSpPr>
        <p:spPr>
          <a:xfrm>
            <a:off x="946404" y="2130552"/>
            <a:ext cx="3749040" cy="256032"/>
          </a:xfrm>
          <a:prstGeom prst="rect">
            <a:avLst/>
          </a:prstGeom>
          <a:noFill/>
          <a:ln/>
        </p:spPr>
        <p:txBody>
          <a:bodyPr wrap="square" lIns="0" tIns="0" rIns="0" bIns="0" rtlCol="0" anchor="ctr"/>
          <a:lstStyle/>
          <a:p>
            <a:pPr marL="0" indent="0">
              <a:buNone/>
            </a:pPr>
            <a:r>
              <a:rPr lang="en-US" sz="1050" dirty="0">
                <a:solidFill>
                  <a:srgbClr val="6B7A8D"/>
                </a:solidFill>
                <a:latin typeface="Courier New" pitchFamily="34" charset="0"/>
                <a:ea typeface="Courier New" pitchFamily="34" charset="-122"/>
                <a:cs typeface="Courier New" pitchFamily="34" charset="-120"/>
              </a:rPr>
              <a:t>│   └── *.tif  (raw images)</a:t>
            </a:r>
            <a:endParaRPr lang="en-US" sz="1050" dirty="0"/>
          </a:p>
        </p:txBody>
      </p:sp>
      <p:sp>
        <p:nvSpPr>
          <p:cNvPr id="9" name="Text 7"/>
          <p:cNvSpPr/>
          <p:nvPr/>
        </p:nvSpPr>
        <p:spPr>
          <a:xfrm>
            <a:off x="932688" y="2386103"/>
            <a:ext cx="3749040" cy="256032"/>
          </a:xfrm>
          <a:prstGeom prst="rect">
            <a:avLst/>
          </a:prstGeom>
          <a:noFill/>
          <a:ln/>
        </p:spPr>
        <p:txBody>
          <a:bodyPr wrap="square" lIns="0" tIns="0" rIns="0" bIns="0" rtlCol="0" anchor="ctr"/>
          <a:lstStyle/>
          <a:p>
            <a:pPr marL="0" indent="0">
              <a:buNone/>
            </a:pPr>
            <a:r>
              <a:rPr lang="en-US" sz="1050" dirty="0">
                <a:solidFill>
                  <a:srgbClr val="D4892A"/>
                </a:solidFill>
                <a:latin typeface="Courier New" pitchFamily="34" charset="0"/>
                <a:ea typeface="Courier New" pitchFamily="34" charset="-122"/>
                <a:cs typeface="Courier New" pitchFamily="34" charset="-120"/>
              </a:rPr>
              <a:t>├── Masked_Images/</a:t>
            </a:r>
            <a:endParaRPr lang="en-US" sz="1050" dirty="0"/>
          </a:p>
        </p:txBody>
      </p:sp>
      <p:sp>
        <p:nvSpPr>
          <p:cNvPr id="10" name="Text 8"/>
          <p:cNvSpPr/>
          <p:nvPr/>
        </p:nvSpPr>
        <p:spPr>
          <a:xfrm>
            <a:off x="932688" y="2670048"/>
            <a:ext cx="3749040" cy="256032"/>
          </a:xfrm>
          <a:prstGeom prst="rect">
            <a:avLst/>
          </a:prstGeom>
          <a:noFill/>
          <a:ln/>
        </p:spPr>
        <p:txBody>
          <a:bodyPr wrap="square" lIns="0" tIns="0" rIns="0" bIns="0" rtlCol="0" anchor="ctr"/>
          <a:lstStyle/>
          <a:p>
            <a:pPr marL="0" indent="0">
              <a:buNone/>
            </a:pPr>
            <a:r>
              <a:rPr lang="en-US" sz="1050" dirty="0">
                <a:solidFill>
                  <a:srgbClr val="6B7A8D"/>
                </a:solidFill>
                <a:latin typeface="Courier New" pitchFamily="34" charset="0"/>
                <a:ea typeface="Courier New" pitchFamily="34" charset="-122"/>
                <a:cs typeface="Courier New" pitchFamily="34" charset="-120"/>
              </a:rPr>
              <a:t>│   └── *.tif  (Ilastik masks)</a:t>
            </a:r>
            <a:endParaRPr lang="en-US" sz="1050" dirty="0"/>
          </a:p>
        </p:txBody>
      </p:sp>
      <p:sp>
        <p:nvSpPr>
          <p:cNvPr id="11" name="Text 9"/>
          <p:cNvSpPr/>
          <p:nvPr/>
        </p:nvSpPr>
        <p:spPr>
          <a:xfrm>
            <a:off x="932688" y="2934743"/>
            <a:ext cx="3749040" cy="256032"/>
          </a:xfrm>
          <a:prstGeom prst="rect">
            <a:avLst/>
          </a:prstGeom>
          <a:noFill/>
          <a:ln/>
        </p:spPr>
        <p:txBody>
          <a:bodyPr wrap="square" lIns="0" tIns="0" rIns="0" bIns="0" rtlCol="0" anchor="ctr"/>
          <a:lstStyle/>
          <a:p>
            <a:pPr marL="0" indent="0">
              <a:buNone/>
            </a:pPr>
            <a:r>
              <a:rPr lang="en-US" sz="1050" dirty="0">
                <a:solidFill>
                  <a:srgbClr val="2E8A5A"/>
                </a:solidFill>
                <a:latin typeface="Courier New" pitchFamily="34" charset="0"/>
                <a:ea typeface="Courier New" pitchFamily="34" charset="-122"/>
                <a:cs typeface="Courier New" pitchFamily="34" charset="-120"/>
              </a:rPr>
              <a:t>├── pipeline.R</a:t>
            </a:r>
            <a:endParaRPr lang="en-US" sz="1050" dirty="0"/>
          </a:p>
        </p:txBody>
      </p:sp>
      <p:sp>
        <p:nvSpPr>
          <p:cNvPr id="12" name="Text 10"/>
          <p:cNvSpPr/>
          <p:nvPr/>
        </p:nvSpPr>
        <p:spPr>
          <a:xfrm>
            <a:off x="932688" y="3182112"/>
            <a:ext cx="3749040" cy="256032"/>
          </a:xfrm>
          <a:prstGeom prst="rect">
            <a:avLst/>
          </a:prstGeom>
          <a:noFill/>
          <a:ln/>
        </p:spPr>
        <p:txBody>
          <a:bodyPr wrap="square" lIns="0" tIns="0" rIns="0" bIns="0" rtlCol="0" anchor="ctr"/>
          <a:lstStyle/>
          <a:p>
            <a:pPr marL="0" indent="0">
              <a:buNone/>
            </a:pPr>
            <a:r>
              <a:rPr lang="en-US" sz="1050" dirty="0">
                <a:solidFill>
                  <a:srgbClr val="2E8A5A"/>
                </a:solidFill>
                <a:latin typeface="Courier New" pitchFamily="34" charset="0"/>
                <a:ea typeface="Courier New" pitchFamily="34" charset="-122"/>
                <a:cs typeface="Courier New" pitchFamily="34" charset="-120"/>
              </a:rPr>
              <a:t>├── Image_Analysis_Pipeline.R</a:t>
            </a:r>
            <a:endParaRPr lang="en-US" sz="1050" dirty="0"/>
          </a:p>
        </p:txBody>
      </p:sp>
      <p:sp>
        <p:nvSpPr>
          <p:cNvPr id="13" name="Text 11"/>
          <p:cNvSpPr/>
          <p:nvPr/>
        </p:nvSpPr>
        <p:spPr>
          <a:xfrm>
            <a:off x="932688" y="3493008"/>
            <a:ext cx="3749040" cy="256032"/>
          </a:xfrm>
          <a:prstGeom prst="rect">
            <a:avLst/>
          </a:prstGeom>
          <a:noFill/>
          <a:ln/>
        </p:spPr>
        <p:txBody>
          <a:bodyPr wrap="square" lIns="0" tIns="0" rIns="0" bIns="0" rtlCol="0" anchor="ctr"/>
          <a:lstStyle/>
          <a:p>
            <a:pPr marL="0" indent="0">
              <a:buNone/>
            </a:pPr>
            <a:r>
              <a:rPr lang="en-US" sz="1050" dirty="0">
                <a:solidFill>
                  <a:srgbClr val="7030A0"/>
                </a:solidFill>
                <a:latin typeface="Courier New" pitchFamily="34" charset="0"/>
                <a:ea typeface="Courier New" pitchFamily="34" charset="-122"/>
                <a:cs typeface="Courier New" pitchFamily="34" charset="-120"/>
              </a:rPr>
              <a:t>└── README.md</a:t>
            </a:r>
            <a:endParaRPr lang="en-US" sz="1050" dirty="0">
              <a:solidFill>
                <a:srgbClr val="7030A0"/>
              </a:solidFill>
            </a:endParaRPr>
          </a:p>
        </p:txBody>
      </p:sp>
      <p:sp>
        <p:nvSpPr>
          <p:cNvPr id="14" name="Shape 12"/>
          <p:cNvSpPr/>
          <p:nvPr/>
        </p:nvSpPr>
        <p:spPr>
          <a:xfrm>
            <a:off x="4800600" y="1005840"/>
            <a:ext cx="4206240" cy="3840480"/>
          </a:xfrm>
          <a:prstGeom prst="roundRect">
            <a:avLst>
              <a:gd name="adj" fmla="val 1905"/>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15" name="Text 13"/>
          <p:cNvSpPr/>
          <p:nvPr/>
        </p:nvSpPr>
        <p:spPr>
          <a:xfrm>
            <a:off x="4983480" y="1097280"/>
            <a:ext cx="3840480" cy="347472"/>
          </a:xfrm>
          <a:prstGeom prst="rect">
            <a:avLst/>
          </a:prstGeom>
          <a:noFill/>
          <a:ln/>
        </p:spPr>
        <p:txBody>
          <a:bodyPr wrap="square" lIns="0" tIns="0" rIns="0" bIns="0" rtlCol="0" anchor="ctr"/>
          <a:lstStyle/>
          <a:p>
            <a:pPr marL="0" indent="0">
              <a:buNone/>
            </a:pPr>
            <a:r>
              <a:rPr lang="en-US" sz="1400" b="1" dirty="0">
                <a:solidFill>
                  <a:srgbClr val="1A2A4A"/>
                </a:solidFill>
                <a:latin typeface="Cambria" pitchFamily="34" charset="0"/>
                <a:ea typeface="Cambria" pitchFamily="34" charset="-122"/>
                <a:cs typeface="Cambria" pitchFamily="34" charset="-120"/>
              </a:rPr>
              <a:t>Rubric checklist</a:t>
            </a:r>
            <a:endParaRPr lang="en-US" sz="1400" dirty="0"/>
          </a:p>
        </p:txBody>
      </p:sp>
      <p:sp>
        <p:nvSpPr>
          <p:cNvPr id="16" name="Shape 14"/>
          <p:cNvSpPr/>
          <p:nvPr/>
        </p:nvSpPr>
        <p:spPr>
          <a:xfrm>
            <a:off x="4983480" y="1609344"/>
            <a:ext cx="274320" cy="274320"/>
          </a:xfrm>
          <a:prstGeom prst="roundRect">
            <a:avLst>
              <a:gd name="adj" fmla="val 13333"/>
            </a:avLst>
          </a:prstGeom>
          <a:solidFill>
            <a:srgbClr val="2E8A5A"/>
          </a:solidFill>
          <a:ln w="12700">
            <a:solidFill>
              <a:srgbClr val="2E8A5A"/>
            </a:solidFill>
            <a:prstDash val="solid"/>
          </a:ln>
        </p:spPr>
        <p:txBody>
          <a:bodyPr/>
          <a:lstStyle/>
          <a:p>
            <a:endParaRPr lang="en-US"/>
          </a:p>
        </p:txBody>
      </p:sp>
      <p:sp>
        <p:nvSpPr>
          <p:cNvPr id="17" name="Text 15"/>
          <p:cNvSpPr/>
          <p:nvPr/>
        </p:nvSpPr>
        <p:spPr>
          <a:xfrm>
            <a:off x="4983480" y="160934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18" name="Text 16"/>
          <p:cNvSpPr/>
          <p:nvPr/>
        </p:nvSpPr>
        <p:spPr>
          <a:xfrm>
            <a:off x="5376672" y="1572768"/>
            <a:ext cx="3474720" cy="347472"/>
          </a:xfrm>
          <a:prstGeom prst="rect">
            <a:avLst/>
          </a:prstGeom>
          <a:noFill/>
          <a:ln/>
        </p:spPr>
        <p:txBody>
          <a:bodyPr wrap="square" lIns="0" tIns="0" rIns="0" bIns="0" rtlCol="0" anchor="ctr"/>
          <a:lstStyle/>
          <a:p>
            <a:pPr marL="0" indent="0">
              <a:buNone/>
            </a:pPr>
            <a:r>
              <a:rPr lang="en-US" sz="1150" dirty="0">
                <a:solidFill>
                  <a:srgbClr val="1A2A4A"/>
                </a:solidFill>
                <a:latin typeface="Calibri" pitchFamily="34" charset="0"/>
                <a:ea typeface="Calibri" pitchFamily="34" charset="-122"/>
                <a:cs typeface="Calibri" pitchFamily="34" charset="-120"/>
              </a:rPr>
              <a:t>Clear README &amp; documentation</a:t>
            </a:r>
            <a:endParaRPr lang="en-US" sz="1150" dirty="0"/>
          </a:p>
        </p:txBody>
      </p:sp>
      <p:sp>
        <p:nvSpPr>
          <p:cNvPr id="19" name="Shape 17"/>
          <p:cNvSpPr/>
          <p:nvPr/>
        </p:nvSpPr>
        <p:spPr>
          <a:xfrm>
            <a:off x="4983480" y="2011680"/>
            <a:ext cx="274320" cy="274320"/>
          </a:xfrm>
          <a:prstGeom prst="roundRect">
            <a:avLst>
              <a:gd name="adj" fmla="val 13333"/>
            </a:avLst>
          </a:prstGeom>
          <a:solidFill>
            <a:srgbClr val="2E8A5A"/>
          </a:solidFill>
          <a:ln w="12700">
            <a:solidFill>
              <a:srgbClr val="2E8A5A"/>
            </a:solidFill>
            <a:prstDash val="solid"/>
          </a:ln>
        </p:spPr>
        <p:txBody>
          <a:bodyPr/>
          <a:lstStyle/>
          <a:p>
            <a:endParaRPr lang="en-US"/>
          </a:p>
        </p:txBody>
      </p:sp>
      <p:sp>
        <p:nvSpPr>
          <p:cNvPr id="20" name="Text 18"/>
          <p:cNvSpPr/>
          <p:nvPr/>
        </p:nvSpPr>
        <p:spPr>
          <a:xfrm>
            <a:off x="4983480" y="201168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21" name="Text 19"/>
          <p:cNvSpPr/>
          <p:nvPr/>
        </p:nvSpPr>
        <p:spPr>
          <a:xfrm>
            <a:off x="5376672" y="1975104"/>
            <a:ext cx="3474720" cy="347472"/>
          </a:xfrm>
          <a:prstGeom prst="rect">
            <a:avLst/>
          </a:prstGeom>
          <a:noFill/>
          <a:ln/>
        </p:spPr>
        <p:txBody>
          <a:bodyPr wrap="square" lIns="0" tIns="0" rIns="0" bIns="0" rtlCol="0" anchor="ctr"/>
          <a:lstStyle/>
          <a:p>
            <a:pPr marL="0" indent="0">
              <a:buNone/>
            </a:pPr>
            <a:r>
              <a:rPr lang="en-US" sz="1150" dirty="0">
                <a:solidFill>
                  <a:srgbClr val="1A2A4A"/>
                </a:solidFill>
                <a:latin typeface="Calibri" pitchFamily="34" charset="0"/>
                <a:ea typeface="Calibri" pitchFamily="34" charset="-122"/>
                <a:cs typeface="Calibri" pitchFamily="34" charset="-120"/>
              </a:rPr>
              <a:t>Standardized file naming convention</a:t>
            </a:r>
            <a:endParaRPr lang="en-US" sz="1150" dirty="0"/>
          </a:p>
        </p:txBody>
      </p:sp>
      <p:sp>
        <p:nvSpPr>
          <p:cNvPr id="22" name="Shape 20"/>
          <p:cNvSpPr/>
          <p:nvPr/>
        </p:nvSpPr>
        <p:spPr>
          <a:xfrm>
            <a:off x="4983480" y="2414016"/>
            <a:ext cx="274320" cy="274320"/>
          </a:xfrm>
          <a:prstGeom prst="roundRect">
            <a:avLst>
              <a:gd name="adj" fmla="val 13333"/>
            </a:avLst>
          </a:prstGeom>
          <a:solidFill>
            <a:srgbClr val="2E8A5A"/>
          </a:solidFill>
          <a:ln w="12700">
            <a:solidFill>
              <a:srgbClr val="2E8A5A"/>
            </a:solidFill>
            <a:prstDash val="solid"/>
          </a:ln>
        </p:spPr>
        <p:txBody>
          <a:bodyPr/>
          <a:lstStyle/>
          <a:p>
            <a:endParaRPr lang="en-US"/>
          </a:p>
        </p:txBody>
      </p:sp>
      <p:sp>
        <p:nvSpPr>
          <p:cNvPr id="23" name="Text 21"/>
          <p:cNvSpPr/>
          <p:nvPr/>
        </p:nvSpPr>
        <p:spPr>
          <a:xfrm>
            <a:off x="4983480" y="2414016"/>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24" name="Text 22"/>
          <p:cNvSpPr/>
          <p:nvPr/>
        </p:nvSpPr>
        <p:spPr>
          <a:xfrm>
            <a:off x="5376672" y="2377440"/>
            <a:ext cx="3474720" cy="347472"/>
          </a:xfrm>
          <a:prstGeom prst="rect">
            <a:avLst/>
          </a:prstGeom>
          <a:noFill/>
          <a:ln/>
        </p:spPr>
        <p:txBody>
          <a:bodyPr wrap="square" lIns="0" tIns="0" rIns="0" bIns="0" rtlCol="0" anchor="ctr"/>
          <a:lstStyle/>
          <a:p>
            <a:pPr marL="0" indent="0">
              <a:buNone/>
            </a:pPr>
            <a:r>
              <a:rPr lang="en-US" sz="1150" dirty="0">
                <a:solidFill>
                  <a:srgbClr val="1A2A4A"/>
                </a:solidFill>
                <a:latin typeface="Calibri" pitchFamily="34" charset="0"/>
                <a:ea typeface="Calibri" pitchFamily="34" charset="-122"/>
                <a:cs typeface="Calibri" pitchFamily="34" charset="-120"/>
              </a:rPr>
              <a:t>Modular, commented R scripts</a:t>
            </a:r>
            <a:endParaRPr lang="en-US" sz="1150" dirty="0"/>
          </a:p>
        </p:txBody>
      </p:sp>
      <p:sp>
        <p:nvSpPr>
          <p:cNvPr id="25" name="Shape 23"/>
          <p:cNvSpPr/>
          <p:nvPr/>
        </p:nvSpPr>
        <p:spPr>
          <a:xfrm>
            <a:off x="4983480" y="2816352"/>
            <a:ext cx="274320" cy="274320"/>
          </a:xfrm>
          <a:prstGeom prst="roundRect">
            <a:avLst>
              <a:gd name="adj" fmla="val 13333"/>
            </a:avLst>
          </a:prstGeom>
          <a:solidFill>
            <a:srgbClr val="2E8A5A"/>
          </a:solidFill>
          <a:ln w="12700">
            <a:solidFill>
              <a:srgbClr val="2E8A5A"/>
            </a:solidFill>
            <a:prstDash val="solid"/>
          </a:ln>
        </p:spPr>
        <p:txBody>
          <a:bodyPr/>
          <a:lstStyle/>
          <a:p>
            <a:endParaRPr lang="en-US"/>
          </a:p>
        </p:txBody>
      </p:sp>
      <p:sp>
        <p:nvSpPr>
          <p:cNvPr id="26" name="Text 24"/>
          <p:cNvSpPr/>
          <p:nvPr/>
        </p:nvSpPr>
        <p:spPr>
          <a:xfrm>
            <a:off x="4983480" y="28163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27" name="Text 25"/>
          <p:cNvSpPr/>
          <p:nvPr/>
        </p:nvSpPr>
        <p:spPr>
          <a:xfrm>
            <a:off x="5376672" y="2779776"/>
            <a:ext cx="3474720" cy="347472"/>
          </a:xfrm>
          <a:prstGeom prst="rect">
            <a:avLst/>
          </a:prstGeom>
          <a:noFill/>
          <a:ln/>
        </p:spPr>
        <p:txBody>
          <a:bodyPr wrap="square" lIns="0" tIns="0" rIns="0" bIns="0" rtlCol="0" anchor="ctr"/>
          <a:lstStyle/>
          <a:p>
            <a:pPr marL="0" indent="0">
              <a:buNone/>
            </a:pPr>
            <a:r>
              <a:rPr lang="en-US" sz="1150" dirty="0">
                <a:solidFill>
                  <a:srgbClr val="1A2A4A"/>
                </a:solidFill>
                <a:latin typeface="Calibri" pitchFamily="34" charset="0"/>
                <a:ea typeface="Calibri" pitchFamily="34" charset="-122"/>
                <a:cs typeface="Calibri" pitchFamily="34" charset="-120"/>
              </a:rPr>
              <a:t>Tidy output dataframe for stats</a:t>
            </a:r>
            <a:endParaRPr lang="en-US" sz="1150" dirty="0"/>
          </a:p>
        </p:txBody>
      </p:sp>
      <p:sp>
        <p:nvSpPr>
          <p:cNvPr id="28" name="Shape 26"/>
          <p:cNvSpPr/>
          <p:nvPr/>
        </p:nvSpPr>
        <p:spPr>
          <a:xfrm>
            <a:off x="4983480" y="3218688"/>
            <a:ext cx="274320" cy="274320"/>
          </a:xfrm>
          <a:prstGeom prst="roundRect">
            <a:avLst>
              <a:gd name="adj" fmla="val 13333"/>
            </a:avLst>
          </a:prstGeom>
          <a:solidFill>
            <a:srgbClr val="2E8A5A"/>
          </a:solidFill>
          <a:ln w="12700">
            <a:solidFill>
              <a:srgbClr val="2E8A5A"/>
            </a:solidFill>
            <a:prstDash val="solid"/>
          </a:ln>
        </p:spPr>
        <p:txBody>
          <a:bodyPr/>
          <a:lstStyle/>
          <a:p>
            <a:endParaRPr lang="en-US"/>
          </a:p>
        </p:txBody>
      </p:sp>
      <p:sp>
        <p:nvSpPr>
          <p:cNvPr id="29" name="Text 27"/>
          <p:cNvSpPr/>
          <p:nvPr/>
        </p:nvSpPr>
        <p:spPr>
          <a:xfrm>
            <a:off x="4983480" y="321868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30" name="Text 28"/>
          <p:cNvSpPr/>
          <p:nvPr/>
        </p:nvSpPr>
        <p:spPr>
          <a:xfrm>
            <a:off x="5376672" y="3182112"/>
            <a:ext cx="3474720" cy="347472"/>
          </a:xfrm>
          <a:prstGeom prst="rect">
            <a:avLst/>
          </a:prstGeom>
          <a:noFill/>
          <a:ln/>
        </p:spPr>
        <p:txBody>
          <a:bodyPr wrap="square" lIns="0" tIns="0" rIns="0" bIns="0" rtlCol="0" anchor="ctr"/>
          <a:lstStyle/>
          <a:p>
            <a:pPr marL="0" indent="0">
              <a:buNone/>
            </a:pPr>
            <a:r>
              <a:rPr lang="en-US" sz="1150" dirty="0">
                <a:solidFill>
                  <a:srgbClr val="1A2A4A"/>
                </a:solidFill>
                <a:latin typeface="Calibri" pitchFamily="34" charset="0"/>
                <a:ea typeface="Calibri" pitchFamily="34" charset="-122"/>
                <a:cs typeface="Calibri" pitchFamily="34" charset="-120"/>
              </a:rPr>
              <a:t>Heatmap + boxplots per region</a:t>
            </a:r>
            <a:endParaRPr lang="en-US" sz="1150" dirty="0"/>
          </a:p>
        </p:txBody>
      </p:sp>
      <p:sp>
        <p:nvSpPr>
          <p:cNvPr id="31" name="Shape 29"/>
          <p:cNvSpPr/>
          <p:nvPr/>
        </p:nvSpPr>
        <p:spPr>
          <a:xfrm>
            <a:off x="4983480" y="3621024"/>
            <a:ext cx="274320" cy="274320"/>
          </a:xfrm>
          <a:prstGeom prst="roundRect">
            <a:avLst>
              <a:gd name="adj" fmla="val 13333"/>
            </a:avLst>
          </a:prstGeom>
          <a:solidFill>
            <a:srgbClr val="2E8A5A"/>
          </a:solidFill>
          <a:ln w="12700">
            <a:solidFill>
              <a:srgbClr val="2E8A5A"/>
            </a:solidFill>
            <a:prstDash val="solid"/>
          </a:ln>
        </p:spPr>
        <p:txBody>
          <a:bodyPr/>
          <a:lstStyle/>
          <a:p>
            <a:endParaRPr lang="en-US"/>
          </a:p>
        </p:txBody>
      </p:sp>
      <p:sp>
        <p:nvSpPr>
          <p:cNvPr id="32" name="Text 30"/>
          <p:cNvSpPr/>
          <p:nvPr/>
        </p:nvSpPr>
        <p:spPr>
          <a:xfrm>
            <a:off x="4983480" y="3621024"/>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33" name="Text 31"/>
          <p:cNvSpPr/>
          <p:nvPr/>
        </p:nvSpPr>
        <p:spPr>
          <a:xfrm>
            <a:off x="5376672" y="3584448"/>
            <a:ext cx="3474720" cy="347472"/>
          </a:xfrm>
          <a:prstGeom prst="rect">
            <a:avLst/>
          </a:prstGeom>
          <a:noFill/>
          <a:ln/>
        </p:spPr>
        <p:txBody>
          <a:bodyPr wrap="square" lIns="0" tIns="0" rIns="0" bIns="0" rtlCol="0" anchor="ctr"/>
          <a:lstStyle/>
          <a:p>
            <a:pPr marL="0" indent="0">
              <a:buNone/>
            </a:pPr>
            <a:r>
              <a:rPr lang="en-US" sz="1150" dirty="0">
                <a:solidFill>
                  <a:srgbClr val="1A2A4A"/>
                </a:solidFill>
                <a:latin typeface="Calibri" pitchFamily="34" charset="0"/>
                <a:ea typeface="Calibri" pitchFamily="34" charset="-122"/>
                <a:cs typeface="Calibri" pitchFamily="34" charset="-120"/>
              </a:rPr>
              <a:t>Generalizable across brain regions</a:t>
            </a:r>
            <a:endParaRPr lang="en-US" sz="1150" dirty="0"/>
          </a:p>
        </p:txBody>
      </p:sp>
      <p:sp>
        <p:nvSpPr>
          <p:cNvPr id="34" name="Shape 32"/>
          <p:cNvSpPr/>
          <p:nvPr/>
        </p:nvSpPr>
        <p:spPr>
          <a:xfrm>
            <a:off x="4983480" y="4023360"/>
            <a:ext cx="274320" cy="274320"/>
          </a:xfrm>
          <a:prstGeom prst="roundRect">
            <a:avLst>
              <a:gd name="adj" fmla="val 13333"/>
            </a:avLst>
          </a:prstGeom>
          <a:solidFill>
            <a:srgbClr val="2E8A5A"/>
          </a:solidFill>
          <a:ln w="12700">
            <a:solidFill>
              <a:srgbClr val="2E8A5A"/>
            </a:solidFill>
            <a:prstDash val="solid"/>
          </a:ln>
        </p:spPr>
        <p:txBody>
          <a:bodyPr/>
          <a:lstStyle/>
          <a:p>
            <a:endParaRPr lang="en-US"/>
          </a:p>
        </p:txBody>
      </p:sp>
      <p:sp>
        <p:nvSpPr>
          <p:cNvPr id="35" name="Text 33"/>
          <p:cNvSpPr/>
          <p:nvPr/>
        </p:nvSpPr>
        <p:spPr>
          <a:xfrm>
            <a:off x="4983480" y="4023360"/>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36" name="Text 34"/>
          <p:cNvSpPr/>
          <p:nvPr/>
        </p:nvSpPr>
        <p:spPr>
          <a:xfrm>
            <a:off x="5376672" y="3986784"/>
            <a:ext cx="3474720" cy="347472"/>
          </a:xfrm>
          <a:prstGeom prst="rect">
            <a:avLst/>
          </a:prstGeom>
          <a:noFill/>
          <a:ln/>
        </p:spPr>
        <p:txBody>
          <a:bodyPr wrap="square" lIns="0" tIns="0" rIns="0" bIns="0" rtlCol="0" anchor="ctr"/>
          <a:lstStyle/>
          <a:p>
            <a:pPr marL="0" indent="0">
              <a:buNone/>
            </a:pPr>
            <a:r>
              <a:rPr lang="en-US" sz="1150" dirty="0">
                <a:solidFill>
                  <a:srgbClr val="1A2A4A"/>
                </a:solidFill>
                <a:latin typeface="Calibri" pitchFamily="34" charset="0"/>
                <a:ea typeface="Calibri" pitchFamily="34" charset="-122"/>
                <a:cs typeface="Calibri" pitchFamily="34" charset="-120"/>
              </a:rPr>
              <a:t>GitHub version control</a:t>
            </a:r>
            <a:endParaRPr lang="en-US" sz="1150" dirty="0"/>
          </a:p>
        </p:txBody>
      </p:sp>
      <p:sp>
        <p:nvSpPr>
          <p:cNvPr id="37" name="Shape 35"/>
          <p:cNvSpPr/>
          <p:nvPr/>
        </p:nvSpPr>
        <p:spPr>
          <a:xfrm>
            <a:off x="4983480" y="4425696"/>
            <a:ext cx="274320" cy="274320"/>
          </a:xfrm>
          <a:prstGeom prst="roundRect">
            <a:avLst>
              <a:gd name="adj" fmla="val 13333"/>
            </a:avLst>
          </a:prstGeom>
          <a:solidFill>
            <a:srgbClr val="2E8A5A"/>
          </a:solidFill>
          <a:ln w="12700">
            <a:solidFill>
              <a:srgbClr val="2E8A5A"/>
            </a:solidFill>
            <a:prstDash val="solid"/>
          </a:ln>
        </p:spPr>
        <p:txBody>
          <a:bodyPr/>
          <a:lstStyle/>
          <a:p>
            <a:endParaRPr lang="en-US"/>
          </a:p>
        </p:txBody>
      </p:sp>
      <p:sp>
        <p:nvSpPr>
          <p:cNvPr id="38" name="Text 36"/>
          <p:cNvSpPr/>
          <p:nvPr/>
        </p:nvSpPr>
        <p:spPr>
          <a:xfrm>
            <a:off x="4983480" y="4425696"/>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rPr>
              <a:t>✓</a:t>
            </a:r>
            <a:endParaRPr lang="en-US" sz="1100" dirty="0"/>
          </a:p>
        </p:txBody>
      </p:sp>
      <p:sp>
        <p:nvSpPr>
          <p:cNvPr id="39" name="Text 37"/>
          <p:cNvSpPr/>
          <p:nvPr/>
        </p:nvSpPr>
        <p:spPr>
          <a:xfrm>
            <a:off x="5376672" y="4389120"/>
            <a:ext cx="3474720" cy="347472"/>
          </a:xfrm>
          <a:prstGeom prst="rect">
            <a:avLst/>
          </a:prstGeom>
          <a:noFill/>
          <a:ln/>
        </p:spPr>
        <p:txBody>
          <a:bodyPr wrap="square" lIns="0" tIns="0" rIns="0" bIns="0" rtlCol="0" anchor="ctr"/>
          <a:lstStyle/>
          <a:p>
            <a:pPr marL="0" indent="0">
              <a:buNone/>
            </a:pPr>
            <a:r>
              <a:rPr lang="en-US" sz="1150" dirty="0">
                <a:solidFill>
                  <a:srgbClr val="1A2A4A"/>
                </a:solidFill>
                <a:latin typeface="Calibri" pitchFamily="34" charset="0"/>
                <a:ea typeface="Calibri" pitchFamily="34" charset="-122"/>
                <a:cs typeface="Calibri" pitchFamily="34" charset="-120"/>
              </a:rPr>
              <a:t>AI tool use documented</a:t>
            </a:r>
            <a:endParaRPr lang="en-US" sz="1150" dirty="0"/>
          </a:p>
        </p:txBody>
      </p:sp>
    </p:spTree>
    <p:extLst>
      <p:ext uri="{BB962C8B-B14F-4D97-AF65-F5344CB8AC3E}">
        <p14:creationId xmlns:p14="http://schemas.microsoft.com/office/powerpoint/2010/main" val="17133017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04088" y="301752"/>
            <a:ext cx="8229600" cy="502920"/>
          </a:xfrm>
          <a:prstGeom prst="rect">
            <a:avLst/>
          </a:prstGeom>
          <a:noFill/>
          <a:ln/>
        </p:spPr>
        <p:txBody>
          <a:bodyPr wrap="square" lIns="0" tIns="0" rIns="0" bIns="0" rtlCol="0" anchor="ctr"/>
          <a:lstStyle/>
          <a:p>
            <a:pPr marL="0" indent="0" algn="l">
              <a:buNone/>
            </a:pPr>
            <a:r>
              <a:rPr lang="en-US" sz="3000" b="1" dirty="0">
                <a:solidFill>
                  <a:srgbClr val="1A2A4A"/>
                </a:solidFill>
                <a:latin typeface="Cambria" pitchFamily="34" charset="0"/>
                <a:ea typeface="Cambria" pitchFamily="34" charset="-122"/>
                <a:cs typeface="Cambria" pitchFamily="34" charset="-120"/>
              </a:rPr>
              <a:t>AI Tools &amp; Version Control</a:t>
            </a:r>
            <a:endParaRPr lang="en-US" sz="3000" dirty="0"/>
          </a:p>
        </p:txBody>
      </p:sp>
      <p:sp>
        <p:nvSpPr>
          <p:cNvPr id="3" name="Shape 1"/>
          <p:cNvSpPr/>
          <p:nvPr/>
        </p:nvSpPr>
        <p:spPr>
          <a:xfrm>
            <a:off x="777240" y="918972"/>
            <a:ext cx="8229600" cy="18288"/>
          </a:xfrm>
          <a:prstGeom prst="ellipse">
            <a:avLst/>
          </a:prstGeom>
          <a:solidFill>
            <a:srgbClr val="EDF2FA"/>
          </a:solidFill>
          <a:ln w="12700">
            <a:solidFill>
              <a:srgbClr val="EDF2FA"/>
            </a:solidFill>
            <a:prstDash val="solid"/>
          </a:ln>
        </p:spPr>
        <p:txBody>
          <a:bodyPr/>
          <a:lstStyle/>
          <a:p>
            <a:endParaRPr lang="en-US"/>
          </a:p>
        </p:txBody>
      </p:sp>
      <p:sp>
        <p:nvSpPr>
          <p:cNvPr id="4" name="Shape 2"/>
          <p:cNvSpPr/>
          <p:nvPr/>
        </p:nvSpPr>
        <p:spPr>
          <a:xfrm>
            <a:off x="640080" y="1110996"/>
            <a:ext cx="8503920" cy="1143000"/>
          </a:xfrm>
          <a:prstGeom prst="roundRect">
            <a:avLst>
              <a:gd name="adj" fmla="val 6400"/>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5" name="Shape 3"/>
          <p:cNvSpPr/>
          <p:nvPr/>
        </p:nvSpPr>
        <p:spPr>
          <a:xfrm>
            <a:off x="640080" y="1110996"/>
            <a:ext cx="1463040" cy="1143000"/>
          </a:xfrm>
          <a:prstGeom prst="roundRect">
            <a:avLst>
              <a:gd name="adj" fmla="val 6400"/>
            </a:avLst>
          </a:prstGeom>
          <a:solidFill>
            <a:srgbClr val="2E6DA4">
              <a:alpha val="80000"/>
            </a:srgbClr>
          </a:solidFill>
          <a:ln w="12700">
            <a:solidFill>
              <a:srgbClr val="2E6DA4"/>
            </a:solidFill>
            <a:prstDash val="solid"/>
          </a:ln>
        </p:spPr>
        <p:txBody>
          <a:bodyPr/>
          <a:lstStyle/>
          <a:p>
            <a:endParaRPr lang="en-US"/>
          </a:p>
        </p:txBody>
      </p:sp>
      <p:sp>
        <p:nvSpPr>
          <p:cNvPr id="6" name="Text 4"/>
          <p:cNvSpPr/>
          <p:nvPr/>
        </p:nvSpPr>
        <p:spPr>
          <a:xfrm>
            <a:off x="640080" y="1110996"/>
            <a:ext cx="1463040" cy="1143000"/>
          </a:xfrm>
          <a:prstGeom prst="rect">
            <a:avLst/>
          </a:prstGeom>
          <a:noFill/>
          <a:ln/>
        </p:spPr>
        <p:txBody>
          <a:bodyPr wrap="square" lIns="50800" tIns="50800" rIns="50800" bIns="5080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Ilastik</a:t>
            </a:r>
            <a:endParaRPr lang="en-US" sz="1200" dirty="0"/>
          </a:p>
        </p:txBody>
      </p:sp>
      <p:sp>
        <p:nvSpPr>
          <p:cNvPr id="7" name="Text 5"/>
          <p:cNvSpPr/>
          <p:nvPr/>
        </p:nvSpPr>
        <p:spPr>
          <a:xfrm>
            <a:off x="2240280" y="1248156"/>
            <a:ext cx="457200" cy="256032"/>
          </a:xfrm>
          <a:prstGeom prst="rect">
            <a:avLst/>
          </a:prstGeom>
          <a:noFill/>
          <a:ln/>
        </p:spPr>
        <p:txBody>
          <a:bodyPr wrap="square" lIns="0" tIns="0" rIns="0" bIns="0" rtlCol="0" anchor="ctr"/>
          <a:lstStyle/>
          <a:p>
            <a:pPr marL="0" indent="0">
              <a:buNone/>
            </a:pPr>
            <a:r>
              <a:rPr lang="en-US" sz="1000" b="1" dirty="0">
                <a:solidFill>
                  <a:srgbClr val="6B7A8D"/>
                </a:solidFill>
                <a:latin typeface="Calibri" pitchFamily="34" charset="0"/>
                <a:ea typeface="Calibri" pitchFamily="34" charset="-122"/>
                <a:cs typeface="Calibri" pitchFamily="34" charset="-120"/>
              </a:rPr>
              <a:t>Role:</a:t>
            </a:r>
            <a:endParaRPr lang="en-US" sz="1000" dirty="0"/>
          </a:p>
        </p:txBody>
      </p:sp>
      <p:sp>
        <p:nvSpPr>
          <p:cNvPr id="8" name="Text 6"/>
          <p:cNvSpPr/>
          <p:nvPr/>
        </p:nvSpPr>
        <p:spPr>
          <a:xfrm>
            <a:off x="2715768" y="1248156"/>
            <a:ext cx="6217920" cy="256032"/>
          </a:xfrm>
          <a:prstGeom prst="rect">
            <a:avLst/>
          </a:prstGeom>
          <a:noFill/>
          <a:ln/>
        </p:spPr>
        <p:txBody>
          <a:bodyPr wrap="square" lIns="0" tIns="0" rIns="0" bIns="0" rtlCol="0" anchor="ctr"/>
          <a:lstStyle/>
          <a:p>
            <a:pPr marL="0" indent="0">
              <a:buNone/>
            </a:pPr>
            <a:r>
              <a:rPr lang="en-US" sz="1100" dirty="0">
                <a:solidFill>
                  <a:srgbClr val="1A2A4A"/>
                </a:solidFill>
                <a:latin typeface="Calibri" pitchFamily="34" charset="0"/>
                <a:ea typeface="Calibri" pitchFamily="34" charset="-122"/>
                <a:cs typeface="Calibri" pitchFamily="34" charset="-120"/>
              </a:rPr>
              <a:t>Core ML engine for pixel classification</a:t>
            </a:r>
            <a:endParaRPr lang="en-US" sz="1100" dirty="0"/>
          </a:p>
        </p:txBody>
      </p:sp>
      <p:sp>
        <p:nvSpPr>
          <p:cNvPr id="9" name="Text 7"/>
          <p:cNvSpPr/>
          <p:nvPr/>
        </p:nvSpPr>
        <p:spPr>
          <a:xfrm>
            <a:off x="2240280" y="1613916"/>
            <a:ext cx="777240" cy="256032"/>
          </a:xfrm>
          <a:prstGeom prst="rect">
            <a:avLst/>
          </a:prstGeom>
          <a:noFill/>
          <a:ln/>
        </p:spPr>
        <p:txBody>
          <a:bodyPr wrap="square" lIns="0" tIns="0" rIns="0" bIns="0" rtlCol="0" anchor="ctr"/>
          <a:lstStyle/>
          <a:p>
            <a:pPr marL="0" indent="0">
              <a:buNone/>
            </a:pPr>
            <a:r>
              <a:rPr lang="en-US" sz="1000" b="1" dirty="0">
                <a:solidFill>
                  <a:srgbClr val="6B7A8D"/>
                </a:solidFill>
                <a:latin typeface="Calibri" pitchFamily="34" charset="0"/>
                <a:ea typeface="Calibri" pitchFamily="34" charset="-122"/>
                <a:cs typeface="Calibri" pitchFamily="34" charset="-120"/>
              </a:rPr>
              <a:t>Evaluated:</a:t>
            </a:r>
            <a:endParaRPr lang="en-US" sz="1000" dirty="0"/>
          </a:p>
        </p:txBody>
      </p:sp>
      <p:sp>
        <p:nvSpPr>
          <p:cNvPr id="10" name="Text 8"/>
          <p:cNvSpPr/>
          <p:nvPr/>
        </p:nvSpPr>
        <p:spPr>
          <a:xfrm>
            <a:off x="3044952" y="1613916"/>
            <a:ext cx="5852160" cy="457200"/>
          </a:xfrm>
          <a:prstGeom prst="rect">
            <a:avLst/>
          </a:prstGeom>
          <a:noFill/>
          <a:ln/>
        </p:spPr>
        <p:txBody>
          <a:bodyPr wrap="square" lIns="0" tIns="0" rIns="0" bIns="0" rtlCol="0" anchor="t"/>
          <a:lstStyle/>
          <a:p>
            <a:pPr marL="0" indent="0">
              <a:buNone/>
            </a:pPr>
            <a:r>
              <a:rPr lang="en-US" sz="1100" dirty="0">
                <a:solidFill>
                  <a:srgbClr val="6B7A8D"/>
                </a:solidFill>
                <a:latin typeface="Calibri" pitchFamily="34" charset="0"/>
                <a:ea typeface="Calibri" pitchFamily="34" charset="-122"/>
                <a:cs typeface="Calibri" pitchFamily="34" charset="-120"/>
              </a:rPr>
              <a:t>Outputs validated visually against raw images and manually reviewed masks</a:t>
            </a:r>
            <a:endParaRPr lang="en-US" sz="1100" dirty="0"/>
          </a:p>
        </p:txBody>
      </p:sp>
      <p:sp>
        <p:nvSpPr>
          <p:cNvPr id="11" name="Shape 9"/>
          <p:cNvSpPr/>
          <p:nvPr/>
        </p:nvSpPr>
        <p:spPr>
          <a:xfrm>
            <a:off x="640080" y="2409444"/>
            <a:ext cx="8503920" cy="1143000"/>
          </a:xfrm>
          <a:prstGeom prst="roundRect">
            <a:avLst>
              <a:gd name="adj" fmla="val 6400"/>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12" name="Shape 10"/>
          <p:cNvSpPr/>
          <p:nvPr/>
        </p:nvSpPr>
        <p:spPr>
          <a:xfrm>
            <a:off x="640080" y="2409444"/>
            <a:ext cx="1463040" cy="1143000"/>
          </a:xfrm>
          <a:prstGeom prst="roundRect">
            <a:avLst>
              <a:gd name="adj" fmla="val 6400"/>
            </a:avLst>
          </a:prstGeom>
          <a:solidFill>
            <a:srgbClr val="D4892A">
              <a:alpha val="80000"/>
            </a:srgbClr>
          </a:solidFill>
          <a:ln w="12700">
            <a:solidFill>
              <a:srgbClr val="D4892A"/>
            </a:solidFill>
            <a:prstDash val="solid"/>
          </a:ln>
        </p:spPr>
        <p:txBody>
          <a:bodyPr/>
          <a:lstStyle/>
          <a:p>
            <a:endParaRPr lang="en-US"/>
          </a:p>
        </p:txBody>
      </p:sp>
      <p:sp>
        <p:nvSpPr>
          <p:cNvPr id="13" name="Text 11"/>
          <p:cNvSpPr/>
          <p:nvPr/>
        </p:nvSpPr>
        <p:spPr>
          <a:xfrm>
            <a:off x="640080" y="2409444"/>
            <a:ext cx="1463040" cy="1143000"/>
          </a:xfrm>
          <a:prstGeom prst="rect">
            <a:avLst/>
          </a:prstGeom>
          <a:noFill/>
          <a:ln/>
        </p:spPr>
        <p:txBody>
          <a:bodyPr wrap="square" lIns="50800" tIns="50800" rIns="50800" bIns="5080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ChatGPT and Claude</a:t>
            </a:r>
            <a:endParaRPr lang="en-US" sz="1200" dirty="0"/>
          </a:p>
        </p:txBody>
      </p:sp>
      <p:sp>
        <p:nvSpPr>
          <p:cNvPr id="14" name="Text 12"/>
          <p:cNvSpPr/>
          <p:nvPr/>
        </p:nvSpPr>
        <p:spPr>
          <a:xfrm>
            <a:off x="2240280" y="2546604"/>
            <a:ext cx="457200" cy="256032"/>
          </a:xfrm>
          <a:prstGeom prst="rect">
            <a:avLst/>
          </a:prstGeom>
          <a:noFill/>
          <a:ln/>
        </p:spPr>
        <p:txBody>
          <a:bodyPr wrap="square" lIns="0" tIns="0" rIns="0" bIns="0" rtlCol="0" anchor="ctr"/>
          <a:lstStyle/>
          <a:p>
            <a:pPr marL="0" indent="0">
              <a:buNone/>
            </a:pPr>
            <a:r>
              <a:rPr lang="en-US" sz="1000" b="1" dirty="0">
                <a:solidFill>
                  <a:srgbClr val="6B7A8D"/>
                </a:solidFill>
                <a:latin typeface="Calibri" pitchFamily="34" charset="0"/>
                <a:ea typeface="Calibri" pitchFamily="34" charset="-122"/>
                <a:cs typeface="Calibri" pitchFamily="34" charset="-120"/>
              </a:rPr>
              <a:t>Role:</a:t>
            </a:r>
            <a:endParaRPr lang="en-US" sz="1000" dirty="0"/>
          </a:p>
        </p:txBody>
      </p:sp>
      <p:sp>
        <p:nvSpPr>
          <p:cNvPr id="15" name="Text 13"/>
          <p:cNvSpPr/>
          <p:nvPr/>
        </p:nvSpPr>
        <p:spPr>
          <a:xfrm>
            <a:off x="2715768" y="2546604"/>
            <a:ext cx="6217920" cy="256032"/>
          </a:xfrm>
          <a:prstGeom prst="rect">
            <a:avLst/>
          </a:prstGeom>
          <a:noFill/>
          <a:ln/>
        </p:spPr>
        <p:txBody>
          <a:bodyPr wrap="square" lIns="0" tIns="0" rIns="0" bIns="0" rtlCol="0" anchor="ctr"/>
          <a:lstStyle/>
          <a:p>
            <a:pPr marL="0" indent="0">
              <a:buNone/>
            </a:pPr>
            <a:r>
              <a:rPr lang="en-US" sz="1100" dirty="0">
                <a:solidFill>
                  <a:srgbClr val="1A2A4A"/>
                </a:solidFill>
                <a:latin typeface="Calibri" pitchFamily="34" charset="0"/>
                <a:ea typeface="Calibri" pitchFamily="34" charset="-122"/>
                <a:cs typeface="Calibri" pitchFamily="34" charset="-120"/>
              </a:rPr>
              <a:t>README drafting, R code review, boxplot ggplot2 template</a:t>
            </a:r>
            <a:endParaRPr lang="en-US" sz="1100" dirty="0"/>
          </a:p>
        </p:txBody>
      </p:sp>
      <p:sp>
        <p:nvSpPr>
          <p:cNvPr id="16" name="Text 14"/>
          <p:cNvSpPr/>
          <p:nvPr/>
        </p:nvSpPr>
        <p:spPr>
          <a:xfrm>
            <a:off x="2240280" y="2912364"/>
            <a:ext cx="777240" cy="256032"/>
          </a:xfrm>
          <a:prstGeom prst="rect">
            <a:avLst/>
          </a:prstGeom>
          <a:noFill/>
          <a:ln/>
        </p:spPr>
        <p:txBody>
          <a:bodyPr wrap="square" lIns="0" tIns="0" rIns="0" bIns="0" rtlCol="0" anchor="ctr"/>
          <a:lstStyle/>
          <a:p>
            <a:pPr marL="0" indent="0">
              <a:buNone/>
            </a:pPr>
            <a:r>
              <a:rPr lang="en-US" sz="1000" b="1" dirty="0">
                <a:solidFill>
                  <a:srgbClr val="6B7A8D"/>
                </a:solidFill>
                <a:latin typeface="Calibri" pitchFamily="34" charset="0"/>
                <a:ea typeface="Calibri" pitchFamily="34" charset="-122"/>
                <a:cs typeface="Calibri" pitchFamily="34" charset="-120"/>
              </a:rPr>
              <a:t>Evaluated:</a:t>
            </a:r>
            <a:endParaRPr lang="en-US" sz="1000" dirty="0"/>
          </a:p>
        </p:txBody>
      </p:sp>
      <p:sp>
        <p:nvSpPr>
          <p:cNvPr id="17" name="Text 15"/>
          <p:cNvSpPr/>
          <p:nvPr/>
        </p:nvSpPr>
        <p:spPr>
          <a:xfrm>
            <a:off x="3044952" y="2939796"/>
            <a:ext cx="5852160" cy="457200"/>
          </a:xfrm>
          <a:prstGeom prst="rect">
            <a:avLst/>
          </a:prstGeom>
          <a:noFill/>
          <a:ln/>
        </p:spPr>
        <p:txBody>
          <a:bodyPr wrap="square" lIns="0" tIns="0" rIns="0" bIns="0" rtlCol="0" anchor="t"/>
          <a:lstStyle/>
          <a:p>
            <a:pPr marL="0" indent="0">
              <a:buNone/>
            </a:pPr>
            <a:r>
              <a:rPr lang="en-US" sz="1100" dirty="0">
                <a:solidFill>
                  <a:srgbClr val="6B7A8D"/>
                </a:solidFill>
                <a:latin typeface="Calibri" pitchFamily="34" charset="0"/>
                <a:ea typeface="Calibri" pitchFamily="34" charset="-122"/>
                <a:cs typeface="Calibri" pitchFamily="34" charset="-120"/>
              </a:rPr>
              <a:t>All AI-generated code reviewed, tested, and modified before integration</a:t>
            </a:r>
            <a:endParaRPr lang="en-US" sz="1100" dirty="0"/>
          </a:p>
        </p:txBody>
      </p:sp>
      <p:sp>
        <p:nvSpPr>
          <p:cNvPr id="18" name="Shape 16"/>
          <p:cNvSpPr/>
          <p:nvPr/>
        </p:nvSpPr>
        <p:spPr>
          <a:xfrm>
            <a:off x="640080" y="3707892"/>
            <a:ext cx="8503920" cy="1143000"/>
          </a:xfrm>
          <a:prstGeom prst="roundRect">
            <a:avLst>
              <a:gd name="adj" fmla="val 6400"/>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19" name="Shape 17"/>
          <p:cNvSpPr/>
          <p:nvPr/>
        </p:nvSpPr>
        <p:spPr>
          <a:xfrm>
            <a:off x="640080" y="3707892"/>
            <a:ext cx="1463040" cy="1143000"/>
          </a:xfrm>
          <a:prstGeom prst="roundRect">
            <a:avLst>
              <a:gd name="adj" fmla="val 6400"/>
            </a:avLst>
          </a:prstGeom>
          <a:solidFill>
            <a:srgbClr val="2E8A5A">
              <a:alpha val="80000"/>
            </a:srgbClr>
          </a:solidFill>
          <a:ln w="12700">
            <a:solidFill>
              <a:srgbClr val="2E8A5A"/>
            </a:solidFill>
            <a:prstDash val="solid"/>
          </a:ln>
        </p:spPr>
        <p:txBody>
          <a:bodyPr/>
          <a:lstStyle/>
          <a:p>
            <a:endParaRPr lang="en-US"/>
          </a:p>
        </p:txBody>
      </p:sp>
      <p:sp>
        <p:nvSpPr>
          <p:cNvPr id="20" name="Text 18"/>
          <p:cNvSpPr/>
          <p:nvPr/>
        </p:nvSpPr>
        <p:spPr>
          <a:xfrm>
            <a:off x="640080" y="3707892"/>
            <a:ext cx="1463040" cy="1143000"/>
          </a:xfrm>
          <a:prstGeom prst="rect">
            <a:avLst/>
          </a:prstGeom>
          <a:noFill/>
          <a:ln/>
        </p:spPr>
        <p:txBody>
          <a:bodyPr wrap="square" lIns="50800" tIns="50800" rIns="50800" bIns="50800" rtlCol="0" anchor="ctr"/>
          <a:lstStyle/>
          <a:p>
            <a:pPr marL="0" indent="0" algn="ctr">
              <a:buNone/>
            </a:pPr>
            <a:r>
              <a:rPr lang="en-US" sz="1200" b="1" dirty="0">
                <a:solidFill>
                  <a:srgbClr val="FFFFFF"/>
                </a:solidFill>
                <a:latin typeface="Cambria" pitchFamily="34" charset="0"/>
                <a:ea typeface="Cambria" pitchFamily="34" charset="-122"/>
                <a:cs typeface="Cambria" pitchFamily="34" charset="-120"/>
              </a:rPr>
              <a:t>GitHub</a:t>
            </a:r>
            <a:endParaRPr lang="en-US" sz="1200" dirty="0"/>
          </a:p>
        </p:txBody>
      </p:sp>
      <p:sp>
        <p:nvSpPr>
          <p:cNvPr id="21" name="Text 19"/>
          <p:cNvSpPr/>
          <p:nvPr/>
        </p:nvSpPr>
        <p:spPr>
          <a:xfrm>
            <a:off x="2240280" y="3845052"/>
            <a:ext cx="457200" cy="256032"/>
          </a:xfrm>
          <a:prstGeom prst="rect">
            <a:avLst/>
          </a:prstGeom>
          <a:noFill/>
          <a:ln/>
        </p:spPr>
        <p:txBody>
          <a:bodyPr wrap="square" lIns="0" tIns="0" rIns="0" bIns="0" rtlCol="0" anchor="ctr"/>
          <a:lstStyle/>
          <a:p>
            <a:pPr marL="0" indent="0">
              <a:buNone/>
            </a:pPr>
            <a:r>
              <a:rPr lang="en-US" sz="1000" b="1" dirty="0">
                <a:solidFill>
                  <a:srgbClr val="6B7A8D"/>
                </a:solidFill>
                <a:latin typeface="Calibri" pitchFamily="34" charset="0"/>
                <a:ea typeface="Calibri" pitchFamily="34" charset="-122"/>
                <a:cs typeface="Calibri" pitchFamily="34" charset="-120"/>
              </a:rPr>
              <a:t>Role:</a:t>
            </a:r>
            <a:endParaRPr lang="en-US" sz="1000" dirty="0"/>
          </a:p>
        </p:txBody>
      </p:sp>
      <p:sp>
        <p:nvSpPr>
          <p:cNvPr id="22" name="Text 20"/>
          <p:cNvSpPr/>
          <p:nvPr/>
        </p:nvSpPr>
        <p:spPr>
          <a:xfrm>
            <a:off x="2715768" y="3845052"/>
            <a:ext cx="6217920" cy="256032"/>
          </a:xfrm>
          <a:prstGeom prst="rect">
            <a:avLst/>
          </a:prstGeom>
          <a:noFill/>
          <a:ln/>
        </p:spPr>
        <p:txBody>
          <a:bodyPr wrap="square" lIns="0" tIns="0" rIns="0" bIns="0" rtlCol="0" anchor="ctr"/>
          <a:lstStyle/>
          <a:p>
            <a:pPr marL="0" indent="0">
              <a:buNone/>
            </a:pPr>
            <a:r>
              <a:rPr lang="en-US" sz="1100" dirty="0">
                <a:solidFill>
                  <a:srgbClr val="1A2A4A"/>
                </a:solidFill>
                <a:latin typeface="Calibri" pitchFamily="34" charset="0"/>
                <a:ea typeface="Calibri" pitchFamily="34" charset="-122"/>
                <a:cs typeface="Calibri" pitchFamily="34" charset="-120"/>
              </a:rPr>
              <a:t>Version control with iterative commit history</a:t>
            </a:r>
            <a:endParaRPr lang="en-US" sz="1100" dirty="0"/>
          </a:p>
        </p:txBody>
      </p:sp>
      <p:sp>
        <p:nvSpPr>
          <p:cNvPr id="23" name="Text 21"/>
          <p:cNvSpPr/>
          <p:nvPr/>
        </p:nvSpPr>
        <p:spPr>
          <a:xfrm>
            <a:off x="2240280" y="4210812"/>
            <a:ext cx="777240" cy="256032"/>
          </a:xfrm>
          <a:prstGeom prst="rect">
            <a:avLst/>
          </a:prstGeom>
          <a:noFill/>
          <a:ln/>
        </p:spPr>
        <p:txBody>
          <a:bodyPr wrap="square" lIns="0" tIns="0" rIns="0" bIns="0" rtlCol="0" anchor="ctr"/>
          <a:lstStyle/>
          <a:p>
            <a:pPr marL="0" indent="0">
              <a:buNone/>
            </a:pPr>
            <a:r>
              <a:rPr lang="en-US" sz="1000" b="1" dirty="0">
                <a:solidFill>
                  <a:srgbClr val="6B7A8D"/>
                </a:solidFill>
                <a:latin typeface="Calibri" pitchFamily="34" charset="0"/>
                <a:ea typeface="Calibri" pitchFamily="34" charset="-122"/>
                <a:cs typeface="Calibri" pitchFamily="34" charset="-120"/>
              </a:rPr>
              <a:t>Evaluated:</a:t>
            </a:r>
            <a:endParaRPr lang="en-US" sz="1000" dirty="0"/>
          </a:p>
        </p:txBody>
      </p:sp>
      <p:sp>
        <p:nvSpPr>
          <p:cNvPr id="24" name="Text 22"/>
          <p:cNvSpPr/>
          <p:nvPr/>
        </p:nvSpPr>
        <p:spPr>
          <a:xfrm>
            <a:off x="3044952" y="4210812"/>
            <a:ext cx="5852160" cy="457200"/>
          </a:xfrm>
          <a:prstGeom prst="rect">
            <a:avLst/>
          </a:prstGeom>
          <a:noFill/>
          <a:ln/>
        </p:spPr>
        <p:txBody>
          <a:bodyPr wrap="square" lIns="0" tIns="0" rIns="0" bIns="0" rtlCol="0" anchor="t"/>
          <a:lstStyle/>
          <a:p>
            <a:pPr marL="0" indent="0">
              <a:buNone/>
            </a:pPr>
            <a:r>
              <a:rPr lang="en-US" sz="1100" dirty="0">
                <a:solidFill>
                  <a:srgbClr val="6B7A8D"/>
                </a:solidFill>
                <a:latin typeface="Calibri" pitchFamily="34" charset="0"/>
                <a:ea typeface="Calibri" pitchFamily="34" charset="-122"/>
                <a:cs typeface="Calibri" pitchFamily="34" charset="-120"/>
              </a:rPr>
              <a:t>Commit messages document each pipeline stage and debugging step</a:t>
            </a:r>
            <a:endParaRPr lang="en-US" sz="1100" dirty="0"/>
          </a:p>
        </p:txBody>
      </p:sp>
    </p:spTree>
    <p:extLst>
      <p:ext uri="{BB962C8B-B14F-4D97-AF65-F5344CB8AC3E}">
        <p14:creationId xmlns:p14="http://schemas.microsoft.com/office/powerpoint/2010/main" val="5915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FFFFF"/>
          </a:solidFill>
          <a:ln w="12700">
            <a:solidFill>
              <a:srgbClr val="FFFFFF"/>
            </a:solidFill>
            <a:prstDash val="solid"/>
          </a:ln>
        </p:spPr>
        <p:txBody>
          <a:bodyPr/>
          <a:lstStyle/>
          <a:p>
            <a:endParaRPr lang="en-US"/>
          </a:p>
        </p:txBody>
      </p:sp>
      <p:sp>
        <p:nvSpPr>
          <p:cNvPr id="3" name="Shape 1"/>
          <p:cNvSpPr/>
          <p:nvPr/>
        </p:nvSpPr>
        <p:spPr>
          <a:xfrm>
            <a:off x="0" y="0"/>
            <a:ext cx="201168" cy="5143500"/>
          </a:xfrm>
          <a:prstGeom prst="rect">
            <a:avLst/>
          </a:prstGeom>
          <a:solidFill>
            <a:srgbClr val="2E6DA4"/>
          </a:solidFill>
          <a:ln w="12700">
            <a:solidFill>
              <a:srgbClr val="2E6DA4"/>
            </a:solidFill>
            <a:prstDash val="solid"/>
          </a:ln>
        </p:spPr>
        <p:txBody>
          <a:bodyPr/>
          <a:lstStyle/>
          <a:p>
            <a:endParaRPr lang="en-US"/>
          </a:p>
        </p:txBody>
      </p:sp>
      <p:sp>
        <p:nvSpPr>
          <p:cNvPr id="4" name="Text 2"/>
          <p:cNvSpPr/>
          <p:nvPr/>
        </p:nvSpPr>
        <p:spPr>
          <a:xfrm>
            <a:off x="457200" y="182880"/>
            <a:ext cx="8229600" cy="594360"/>
          </a:xfrm>
          <a:prstGeom prst="rect">
            <a:avLst/>
          </a:prstGeom>
          <a:noFill/>
          <a:ln/>
        </p:spPr>
        <p:txBody>
          <a:bodyPr wrap="square" lIns="0" tIns="0" rIns="0" bIns="0" rtlCol="0" anchor="ctr"/>
          <a:lstStyle/>
          <a:p>
            <a:pPr marL="0" indent="0">
              <a:buNone/>
            </a:pPr>
            <a:r>
              <a:rPr lang="en-US" sz="3400" b="1" dirty="0">
                <a:solidFill>
                  <a:srgbClr val="1A2A4A"/>
                </a:solidFill>
                <a:latin typeface="Cambria" pitchFamily="34" charset="0"/>
                <a:ea typeface="Cambria" pitchFamily="34" charset="-122"/>
                <a:cs typeface="Cambria" pitchFamily="34" charset="-120"/>
              </a:rPr>
              <a:t>Summary</a:t>
            </a:r>
            <a:endParaRPr lang="en-US" sz="3400" dirty="0"/>
          </a:p>
        </p:txBody>
      </p:sp>
      <p:sp>
        <p:nvSpPr>
          <p:cNvPr id="5" name="Shape 3"/>
          <p:cNvSpPr/>
          <p:nvPr/>
        </p:nvSpPr>
        <p:spPr>
          <a:xfrm>
            <a:off x="457200" y="1097280"/>
            <a:ext cx="8321040" cy="749808"/>
          </a:xfrm>
          <a:prstGeom prst="roundRect">
            <a:avLst>
              <a:gd name="adj" fmla="val 9756"/>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6" name="Text 4"/>
          <p:cNvSpPr/>
          <p:nvPr/>
        </p:nvSpPr>
        <p:spPr>
          <a:xfrm>
            <a:off x="594360" y="1097280"/>
            <a:ext cx="640080" cy="749808"/>
          </a:xfrm>
          <a:prstGeom prst="rect">
            <a:avLst/>
          </a:prstGeom>
          <a:noFill/>
          <a:ln/>
        </p:spPr>
        <p:txBody>
          <a:bodyPr wrap="square" lIns="0" tIns="0" rIns="0" bIns="0" rtlCol="0" anchor="ctr"/>
          <a:lstStyle/>
          <a:p>
            <a:pPr marL="0" indent="0" algn="ctr">
              <a:buNone/>
            </a:pPr>
            <a:r>
              <a:rPr lang="en-US" sz="2200" dirty="0">
                <a:solidFill>
                  <a:srgbClr val="1A2A4A"/>
                </a:solidFill>
              </a:rPr>
              <a:t>🧠</a:t>
            </a:r>
            <a:endParaRPr lang="en-US" sz="2200" dirty="0"/>
          </a:p>
        </p:txBody>
      </p:sp>
      <p:sp>
        <p:nvSpPr>
          <p:cNvPr id="7" name="Text 5"/>
          <p:cNvSpPr/>
          <p:nvPr/>
        </p:nvSpPr>
        <p:spPr>
          <a:xfrm>
            <a:off x="1325880" y="1097280"/>
            <a:ext cx="7315200" cy="749808"/>
          </a:xfrm>
          <a:prstGeom prst="rect">
            <a:avLst/>
          </a:prstGeom>
          <a:noFill/>
          <a:ln/>
        </p:spPr>
        <p:txBody>
          <a:bodyPr wrap="square" lIns="101600" tIns="101600" rIns="101600" bIns="101600" rtlCol="0" anchor="ctr"/>
          <a:lstStyle/>
          <a:p>
            <a:pPr marL="0" indent="0">
              <a:buNone/>
            </a:pPr>
            <a:r>
              <a:rPr lang="en-US" sz="1250" dirty="0">
                <a:solidFill>
                  <a:srgbClr val="1A2A4A"/>
                </a:solidFill>
                <a:latin typeface="Calibri" pitchFamily="34" charset="0"/>
                <a:ea typeface="Calibri" pitchFamily="34" charset="-122"/>
                <a:cs typeface="Calibri" pitchFamily="34" charset="-120"/>
              </a:rPr>
              <a:t>End-to-end pipeline: raw .tif → Ilastik masks → R quantification → visualizations</a:t>
            </a:r>
            <a:endParaRPr lang="en-US" sz="1250" dirty="0"/>
          </a:p>
        </p:txBody>
      </p:sp>
      <p:sp>
        <p:nvSpPr>
          <p:cNvPr id="8" name="Shape 6"/>
          <p:cNvSpPr/>
          <p:nvPr/>
        </p:nvSpPr>
        <p:spPr>
          <a:xfrm>
            <a:off x="457200" y="2011680"/>
            <a:ext cx="8321040" cy="749808"/>
          </a:xfrm>
          <a:prstGeom prst="roundRect">
            <a:avLst>
              <a:gd name="adj" fmla="val 9756"/>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9" name="Text 7"/>
          <p:cNvSpPr/>
          <p:nvPr/>
        </p:nvSpPr>
        <p:spPr>
          <a:xfrm>
            <a:off x="594360" y="2011680"/>
            <a:ext cx="640080" cy="749808"/>
          </a:xfrm>
          <a:prstGeom prst="rect">
            <a:avLst/>
          </a:prstGeom>
          <a:noFill/>
          <a:ln/>
        </p:spPr>
        <p:txBody>
          <a:bodyPr wrap="square" lIns="0" tIns="0" rIns="0" bIns="0" rtlCol="0" anchor="ctr"/>
          <a:lstStyle/>
          <a:p>
            <a:pPr marL="0" indent="0" algn="ctr">
              <a:buNone/>
            </a:pPr>
            <a:r>
              <a:rPr lang="en-US" sz="2200" dirty="0">
                <a:solidFill>
                  <a:srgbClr val="1A2A4A"/>
                </a:solidFill>
              </a:rPr>
              <a:t>📐</a:t>
            </a:r>
            <a:endParaRPr lang="en-US" sz="2200" dirty="0"/>
          </a:p>
        </p:txBody>
      </p:sp>
      <p:sp>
        <p:nvSpPr>
          <p:cNvPr id="10" name="Text 8"/>
          <p:cNvSpPr/>
          <p:nvPr/>
        </p:nvSpPr>
        <p:spPr>
          <a:xfrm>
            <a:off x="1325880" y="2011680"/>
            <a:ext cx="7315200" cy="749808"/>
          </a:xfrm>
          <a:prstGeom prst="rect">
            <a:avLst/>
          </a:prstGeom>
          <a:noFill/>
          <a:ln/>
        </p:spPr>
        <p:txBody>
          <a:bodyPr wrap="square" lIns="101600" tIns="101600" rIns="101600" bIns="101600" rtlCol="0" anchor="ctr"/>
          <a:lstStyle/>
          <a:p>
            <a:pPr marL="0" indent="0">
              <a:buNone/>
            </a:pPr>
            <a:r>
              <a:rPr lang="en-US" sz="1250" dirty="0">
                <a:solidFill>
                  <a:srgbClr val="1A2A4A"/>
                </a:solidFill>
                <a:latin typeface="Calibri" pitchFamily="34" charset="0"/>
                <a:ea typeface="Calibri" pitchFamily="34" charset="-122"/>
                <a:cs typeface="Calibri" pitchFamily="34" charset="-120"/>
              </a:rPr>
              <a:t>Objective metric: deposition fraction (deposition / brain pixels) per image</a:t>
            </a:r>
            <a:endParaRPr lang="en-US" sz="1250" dirty="0"/>
          </a:p>
        </p:txBody>
      </p:sp>
      <p:sp>
        <p:nvSpPr>
          <p:cNvPr id="11" name="Shape 9"/>
          <p:cNvSpPr/>
          <p:nvPr/>
        </p:nvSpPr>
        <p:spPr>
          <a:xfrm>
            <a:off x="457200" y="2926080"/>
            <a:ext cx="8321040" cy="749808"/>
          </a:xfrm>
          <a:prstGeom prst="roundRect">
            <a:avLst>
              <a:gd name="adj" fmla="val 9756"/>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12" name="Text 10"/>
          <p:cNvSpPr/>
          <p:nvPr/>
        </p:nvSpPr>
        <p:spPr>
          <a:xfrm>
            <a:off x="594360" y="2926080"/>
            <a:ext cx="640080" cy="749808"/>
          </a:xfrm>
          <a:prstGeom prst="rect">
            <a:avLst/>
          </a:prstGeom>
          <a:noFill/>
          <a:ln/>
        </p:spPr>
        <p:txBody>
          <a:bodyPr wrap="square" lIns="0" tIns="0" rIns="0" bIns="0" rtlCol="0" anchor="ctr"/>
          <a:lstStyle/>
          <a:p>
            <a:pPr marL="0" indent="0" algn="ctr">
              <a:buNone/>
            </a:pPr>
            <a:r>
              <a:rPr lang="en-US" sz="2200" dirty="0">
                <a:solidFill>
                  <a:srgbClr val="1A2A4A"/>
                </a:solidFill>
              </a:rPr>
              <a:t>🗺</a:t>
            </a:r>
            <a:endParaRPr lang="en-US" sz="2200" dirty="0"/>
          </a:p>
        </p:txBody>
      </p:sp>
      <p:sp>
        <p:nvSpPr>
          <p:cNvPr id="13" name="Text 11"/>
          <p:cNvSpPr/>
          <p:nvPr/>
        </p:nvSpPr>
        <p:spPr>
          <a:xfrm>
            <a:off x="1325880" y="2926080"/>
            <a:ext cx="7315200" cy="749808"/>
          </a:xfrm>
          <a:prstGeom prst="rect">
            <a:avLst/>
          </a:prstGeom>
          <a:noFill/>
          <a:ln/>
        </p:spPr>
        <p:txBody>
          <a:bodyPr wrap="square" lIns="101600" tIns="101600" rIns="101600" bIns="101600" rtlCol="0" anchor="ctr"/>
          <a:lstStyle/>
          <a:p>
            <a:pPr marL="0" indent="0">
              <a:buNone/>
            </a:pPr>
            <a:r>
              <a:rPr lang="en-US" sz="1250" dirty="0">
                <a:solidFill>
                  <a:srgbClr val="1A2A4A"/>
                </a:solidFill>
                <a:latin typeface="Calibri" pitchFamily="34" charset="0"/>
                <a:ea typeface="Calibri" pitchFamily="34" charset="-122"/>
                <a:cs typeface="Calibri" pitchFamily="34" charset="-120"/>
              </a:rPr>
              <a:t>Regional outputs: heatmaps and boxplots reveal spatial PrP distribution patterns</a:t>
            </a:r>
            <a:endParaRPr lang="en-US" sz="1250" dirty="0"/>
          </a:p>
        </p:txBody>
      </p:sp>
      <p:sp>
        <p:nvSpPr>
          <p:cNvPr id="14" name="Shape 12"/>
          <p:cNvSpPr/>
          <p:nvPr/>
        </p:nvSpPr>
        <p:spPr>
          <a:xfrm>
            <a:off x="457200" y="3840480"/>
            <a:ext cx="8321040" cy="749808"/>
          </a:xfrm>
          <a:prstGeom prst="roundRect">
            <a:avLst>
              <a:gd name="adj" fmla="val 9756"/>
            </a:avLst>
          </a:prstGeom>
          <a:solidFill>
            <a:srgbClr val="FFFFFF"/>
          </a:solidFill>
          <a:ln w="6350">
            <a:solidFill>
              <a:srgbClr val="EDF2FA"/>
            </a:solidFill>
            <a:prstDash val="solid"/>
          </a:ln>
          <a:effectLst>
            <a:outerShdw blurRad="101600" dist="38100" dir="2700000" algn="bl" rotWithShape="0">
              <a:srgbClr val="1A2A4A">
                <a:alpha val="35000"/>
              </a:srgbClr>
            </a:outerShdw>
          </a:effectLst>
        </p:spPr>
        <p:txBody>
          <a:bodyPr/>
          <a:lstStyle/>
          <a:p>
            <a:endParaRPr lang="en-US"/>
          </a:p>
        </p:txBody>
      </p:sp>
      <p:sp>
        <p:nvSpPr>
          <p:cNvPr id="15" name="Text 13"/>
          <p:cNvSpPr/>
          <p:nvPr/>
        </p:nvSpPr>
        <p:spPr>
          <a:xfrm>
            <a:off x="594360" y="3840480"/>
            <a:ext cx="640080" cy="749808"/>
          </a:xfrm>
          <a:prstGeom prst="rect">
            <a:avLst/>
          </a:prstGeom>
          <a:noFill/>
          <a:ln/>
        </p:spPr>
        <p:txBody>
          <a:bodyPr wrap="square" lIns="0" tIns="0" rIns="0" bIns="0" rtlCol="0" anchor="ctr"/>
          <a:lstStyle/>
          <a:p>
            <a:pPr marL="0" indent="0" algn="ctr">
              <a:buNone/>
            </a:pPr>
            <a:r>
              <a:rPr lang="en-US" sz="2200" dirty="0">
                <a:solidFill>
                  <a:srgbClr val="1A2A4A"/>
                </a:solidFill>
              </a:rPr>
              <a:t>♻️</a:t>
            </a:r>
            <a:endParaRPr lang="en-US" sz="2200" dirty="0"/>
          </a:p>
        </p:txBody>
      </p:sp>
      <p:sp>
        <p:nvSpPr>
          <p:cNvPr id="16" name="Text 14"/>
          <p:cNvSpPr/>
          <p:nvPr/>
        </p:nvSpPr>
        <p:spPr>
          <a:xfrm>
            <a:off x="1325880" y="3840480"/>
            <a:ext cx="7315200" cy="749808"/>
          </a:xfrm>
          <a:prstGeom prst="rect">
            <a:avLst/>
          </a:prstGeom>
          <a:noFill/>
          <a:ln/>
        </p:spPr>
        <p:txBody>
          <a:bodyPr wrap="square" lIns="101600" tIns="101600" rIns="101600" bIns="101600" rtlCol="0" anchor="ctr"/>
          <a:lstStyle/>
          <a:p>
            <a:pPr marL="0" indent="0">
              <a:buNone/>
            </a:pPr>
            <a:r>
              <a:rPr lang="en-US" sz="1250" dirty="0">
                <a:solidFill>
                  <a:srgbClr val="1A2A4A"/>
                </a:solidFill>
                <a:latin typeface="Calibri" pitchFamily="34" charset="0"/>
                <a:ea typeface="Calibri" pitchFamily="34" charset="-122"/>
                <a:cs typeface="Calibri" pitchFamily="34" charset="-120"/>
              </a:rPr>
              <a:t>Reproducible: documented, modular, GitHub-hosted, generalizable across brain regions</a:t>
            </a:r>
            <a:endParaRPr lang="en-US" sz="1250" dirty="0"/>
          </a:p>
        </p:txBody>
      </p:sp>
      <p:sp>
        <p:nvSpPr>
          <p:cNvPr id="17" name="Text 15"/>
          <p:cNvSpPr/>
          <p:nvPr/>
        </p:nvSpPr>
        <p:spPr>
          <a:xfrm>
            <a:off x="457200" y="4709160"/>
            <a:ext cx="8321040" cy="256032"/>
          </a:xfrm>
          <a:prstGeom prst="rect">
            <a:avLst/>
          </a:prstGeom>
          <a:noFill/>
          <a:ln/>
        </p:spPr>
        <p:txBody>
          <a:bodyPr wrap="square" lIns="0" tIns="0" rIns="0" bIns="0" rtlCol="0" anchor="ctr"/>
          <a:lstStyle/>
          <a:p>
            <a:pPr marL="0" indent="0" algn="ctr">
              <a:buNone/>
            </a:pPr>
            <a:r>
              <a:rPr lang="en-US" sz="1050" i="1" dirty="0">
                <a:solidFill>
                  <a:srgbClr val="6B7A8D"/>
                </a:solidFill>
                <a:latin typeface="Calibri" pitchFamily="34" charset="0"/>
                <a:ea typeface="Calibri" pitchFamily="34" charset="-122"/>
                <a:cs typeface="Calibri" pitchFamily="34" charset="-120"/>
              </a:rPr>
              <a:t>Next steps: integrate statistical testing · expand to additional prion strains · explore deep learning segmentation</a:t>
            </a:r>
            <a:endParaRPr lang="en-US" sz="1050" dirty="0"/>
          </a:p>
        </p:txBody>
      </p:sp>
    </p:spTree>
    <p:extLst>
      <p:ext uri="{BB962C8B-B14F-4D97-AF65-F5344CB8AC3E}">
        <p14:creationId xmlns:p14="http://schemas.microsoft.com/office/powerpoint/2010/main" val="1109224439"/>
      </p:ext>
    </p:extLst>
  </p:cSld>
  <p:clrMapOvr>
    <a:masterClrMapping/>
  </p:clrMapOvr>
</p:sld>
</file>

<file path=ppt/theme/theme1.xml><?xml version="1.0" encoding="utf-8"?>
<a:theme xmlns:a="http://schemas.openxmlformats.org/drawingml/2006/main" name="Crop [1781208056260]">
  <a:themeElements>
    <a:clrScheme name="Crop">
      <a:dk1>
        <a:sysClr val="windowText" lastClr="000000"/>
      </a:dk1>
      <a:lt1>
        <a:sysClr val="window" lastClr="FFFFFF"/>
      </a:lt1>
      <a:dk2>
        <a:srgbClr val="432A30"/>
      </a:dk2>
      <a:lt2>
        <a:srgbClr val="F2F2F0"/>
      </a:lt2>
      <a:accent1>
        <a:srgbClr val="836C9F"/>
      </a:accent1>
      <a:accent2>
        <a:srgbClr val="BDAB56"/>
      </a:accent2>
      <a:accent3>
        <a:srgbClr val="B0565D"/>
      </a:accent3>
      <a:accent4>
        <a:srgbClr val="55B1BC"/>
      </a:accent4>
      <a:accent5>
        <a:srgbClr val="4D925F"/>
      </a:accent5>
      <a:accent6>
        <a:srgbClr val="E08C4A"/>
      </a:accent6>
      <a:hlink>
        <a:srgbClr val="55B1BC"/>
      </a:hlink>
      <a:folHlink>
        <a:srgbClr val="836C9F"/>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1A2A4A">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9270AA94-2367-4B1E-B579-26147B222B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F996F4E-E354-734D-9089-9EE0CDA8B2CD}">
  <we:reference id="wa200010001" version="1.0.0.1" store="en-US" storeType="OMEX"/>
  <we:alternateReferences>
    <we:reference id="WA200010001" version="1.0.0.1" store="WA200010001" storeType="OMEX"/>
  </we:alternateReferences>
  <we:properties>
    <we:property name="claude.fileId" value="&quot;0720f38f-ae7e-4fdf-bd92-5aaaa3ca188e&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Crop</Template>
  <TotalTime>35</TotalTime>
  <Words>1065</Words>
  <Application>Microsoft Macintosh PowerPoint</Application>
  <PresentationFormat>On-screen Show (16:9)</PresentationFormat>
  <Paragraphs>166</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Cambria</vt:lpstr>
      <vt:lpstr>Courier New</vt:lpstr>
      <vt:lpstr>Franklin Gothic Book</vt:lpstr>
      <vt:lpstr>Crop [1781208056260]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Prion Deposit Analysis Pipeline</dc:title>
  <dc:subject>PptxGenJS Presentation</dc:subject>
  <dc:creator>PptxGenJS</dc:creator>
  <cp:lastModifiedBy>Ayda Lewis</cp:lastModifiedBy>
  <cp:revision>4</cp:revision>
  <dcterms:created xsi:type="dcterms:W3CDTF">2026-06-11T19:42:01Z</dcterms:created>
  <dcterms:modified xsi:type="dcterms:W3CDTF">2026-06-11T20:24:50Z</dcterms:modified>
</cp:coreProperties>
</file>